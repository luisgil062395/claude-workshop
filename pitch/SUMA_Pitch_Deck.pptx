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1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E9E6B"/>
              </a:gs>
              <a:gs pos="52000">
                <a:srgbClr val="12314F"/>
              </a:gs>
              <a:gs pos="100000">
                <a:srgbClr val="5B34D6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68680" y="960120"/>
            <a:ext cx="6400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19">
                <a:solidFill>
                  <a:srgbClr val="B7BDC6"/>
                </a:solidFill>
                <a:latin typeface="Inter"/>
              </a:rPr>
              <a:t>Pitch deck · producto · 2026</a:t>
            </a:r>
          </a:p>
        </p:txBody>
      </p:sp>
      <p:pic>
        <p:nvPicPr>
          <p:cNvPr id="5" name="Picture 4" descr="wordmark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389888"/>
            <a:ext cx="3108960" cy="9442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8680" y="2907792"/>
            <a:ext cx="7772400" cy="20695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336"/>
              </a:lnSpc>
              <a:spcBef>
                <a:spcPts val="0"/>
              </a:spcBef>
              <a:spcAft>
                <a:spcPts val="0"/>
              </a:spcAft>
            </a:pPr>
            <a:r>
              <a:rPr sz="4600" b="1" spc="-92">
                <a:solidFill>
                  <a:srgbClr val="FFFFFF"/>
                </a:solidFill>
                <a:latin typeface="Inter"/>
              </a:rPr>
              <a:t>Financial awareness</a:t>
            </a:r>
          </a:p>
          <a:p>
            <a:pPr algn="l">
              <a:lnSpc>
                <a:spcPts val="5336"/>
              </a:lnSpc>
              <a:spcBef>
                <a:spcPts val="0"/>
              </a:spcBef>
              <a:spcAft>
                <a:spcPts val="0"/>
              </a:spcAft>
            </a:pPr>
            <a:r>
              <a:rPr sz="4600" b="1" spc="-92">
                <a:solidFill>
                  <a:srgbClr val="FFFFFF"/>
                </a:solidFill>
                <a:latin typeface="Inter"/>
              </a:rPr>
              <a:t>without financial</a:t>
            </a:r>
          </a:p>
          <a:p>
            <a:pPr algn="l">
              <a:lnSpc>
                <a:spcPts val="5336"/>
              </a:lnSpc>
              <a:spcBef>
                <a:spcPts val="0"/>
              </a:spcBef>
              <a:spcAft>
                <a:spcPts val="0"/>
              </a:spcAft>
            </a:pPr>
            <a:r>
              <a:rPr sz="4600" b="1" spc="-92">
                <a:solidFill>
                  <a:srgbClr val="FFFFFF"/>
                </a:solidFill>
                <a:latin typeface="Inter"/>
              </a:rPr>
              <a:t>complexity.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23036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B7BDC6"/>
                </a:solidFill>
                <a:latin typeface="Inter"/>
              </a:rPr>
              <a:t>Conciencia financiera, sin complejidad financiera.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77900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Inter"/>
              </a:rPr>
              <a:t>Habla. Escribe. Fotografía.</a:t>
            </a:r>
          </a:p>
        </p:txBody>
      </p:sp>
      <p:pic>
        <p:nvPicPr>
          <p:cNvPr id="9" name="Picture 8" descr="app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720" y="1325880"/>
            <a:ext cx="214884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68680" y="530352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19">
                <a:solidFill>
                  <a:srgbClr val="131A2A"/>
                </a:solidFill>
                <a:latin typeface="Inter"/>
              </a:rPr>
              <a:t>02 </a:t>
            </a:r>
            <a:r>
              <a:rPr sz="950" b="1" spc="19">
                <a:solidFill>
                  <a:srgbClr val="5A6472"/>
                </a:solidFill>
                <a:latin typeface="Inter"/>
              </a:rPr>
              <a:t>EL PROBLEMA</a:t>
            </a:r>
          </a:p>
        </p:txBody>
      </p:sp>
      <p:pic>
        <p:nvPicPr>
          <p:cNvPr id="4" name="Picture 3" descr="mark-grad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6327648"/>
            <a:ext cx="137160" cy="137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408615" y="6318504"/>
            <a:ext cx="914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105"/>
              </a:lnSpc>
              <a:spcBef>
                <a:spcPts val="0"/>
              </a:spcBef>
              <a:spcAft>
                <a:spcPts val="0"/>
              </a:spcAft>
            </a:pPr>
            <a:r>
              <a:rPr sz="850" b="1" spc="17">
                <a:solidFill>
                  <a:srgbClr val="767F8C"/>
                </a:solidFill>
                <a:latin typeface="Inter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133856"/>
            <a:ext cx="5486400" cy="1539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944"/>
              </a:lnSpc>
              <a:spcBef>
                <a:spcPts val="0"/>
              </a:spcBef>
              <a:spcAft>
                <a:spcPts val="0"/>
              </a:spcAft>
            </a:pPr>
            <a:r>
              <a:rPr sz="3400" b="1" spc="-68">
                <a:solidFill>
                  <a:srgbClr val="131A2A"/>
                </a:solidFill>
                <a:latin typeface="Inter"/>
              </a:rPr>
              <a:t>Entender tu dinero</a:t>
            </a:r>
          </a:p>
          <a:p>
            <a:pPr algn="l">
              <a:lnSpc>
                <a:spcPts val="3944"/>
              </a:lnSpc>
              <a:spcBef>
                <a:spcPts val="0"/>
              </a:spcBef>
              <a:spcAft>
                <a:spcPts val="0"/>
              </a:spcAft>
            </a:pPr>
            <a:r>
              <a:rPr sz="3400" b="1" spc="-68">
                <a:solidFill>
                  <a:srgbClr val="131A2A"/>
                </a:solidFill>
                <a:latin typeface="Inter"/>
              </a:rPr>
              <a:t>sigue siendo un</a:t>
            </a:r>
          </a:p>
          <a:p>
            <a:pPr algn="l">
              <a:lnSpc>
                <a:spcPts val="3944"/>
              </a:lnSpc>
              <a:spcBef>
                <a:spcPts val="0"/>
              </a:spcBef>
              <a:spcAft>
                <a:spcPts val="0"/>
              </a:spcAft>
            </a:pPr>
            <a:r>
              <a:rPr sz="3400" b="1" spc="-68">
                <a:solidFill>
                  <a:srgbClr val="131A2A"/>
                </a:solidFill>
                <a:latin typeface="Inter"/>
              </a:rPr>
              <a:t>trabajo manual.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310128"/>
            <a:ext cx="5394960" cy="6271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3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472"/>
                </a:solidFill>
                <a:latin typeface="Inter"/>
              </a:rPr>
              <a:t>Las preguntas que la gente se hace son simples. El</a:t>
            </a:r>
          </a:p>
          <a:p>
            <a:pPr algn="l">
              <a:lnSpc>
                <a:spcPts val="23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472"/>
                </a:solidFill>
                <a:latin typeface="Inter"/>
              </a:rPr>
              <a:t>camino para responderlas, no.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133087"/>
            <a:ext cx="365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105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767F8C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2728" y="4105655"/>
            <a:ext cx="11887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31A2A"/>
                </a:solidFill>
                <a:latin typeface="Inter"/>
              </a:rPr>
              <a:t>Registrar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4114800"/>
            <a:ext cx="37490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472"/>
                </a:solidFill>
                <a:latin typeface="Inter"/>
              </a:rPr>
              <a:t>Abrir la app, elegir un formulario, teclear el monto.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8680" y="4517136"/>
            <a:ext cx="5394960" cy="0"/>
          </a:xfrm>
          <a:prstGeom prst="line">
            <a:avLst/>
          </a:prstGeom>
          <a:ln w="12700">
            <a:solidFill>
              <a:srgbClr val="EFF0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68680" y="4681727"/>
            <a:ext cx="365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105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767F8C"/>
                </a:solidFill>
                <a:latin typeface="Inter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52728" y="4654295"/>
            <a:ext cx="11887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31A2A"/>
                </a:solidFill>
                <a:latin typeface="Inter"/>
              </a:rPr>
              <a:t>Categorizar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4663440"/>
            <a:ext cx="37490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472"/>
                </a:solidFill>
                <a:latin typeface="Inter"/>
              </a:rPr>
              <a:t>Decidir a qué cajón pertenece cada compra.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68680" y="5065775"/>
            <a:ext cx="5394960" cy="0"/>
          </a:xfrm>
          <a:prstGeom prst="line">
            <a:avLst/>
          </a:prstGeom>
          <a:ln w="12700">
            <a:solidFill>
              <a:srgbClr val="EFF0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68680" y="5230368"/>
            <a:ext cx="365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105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767F8C"/>
                </a:solidFill>
                <a:latin typeface="Inter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52728" y="5202936"/>
            <a:ext cx="11887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31A2A"/>
                </a:solidFill>
                <a:latin typeface="Inter"/>
              </a:rPr>
              <a:t>Revisar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5212080"/>
            <a:ext cx="37490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472"/>
                </a:solidFill>
                <a:latin typeface="Inter"/>
              </a:rPr>
              <a:t>Volver después a corregir lo que quedó mal.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8680" y="5614416"/>
            <a:ext cx="5394960" cy="0"/>
          </a:xfrm>
          <a:prstGeom prst="line">
            <a:avLst/>
          </a:prstGeom>
          <a:ln w="12700">
            <a:solidFill>
              <a:srgbClr val="EFF0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68680" y="5779007"/>
            <a:ext cx="365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105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767F8C"/>
                </a:solidFill>
                <a:latin typeface="Inter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52728" y="5751575"/>
            <a:ext cx="11887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31A2A"/>
                </a:solidFill>
                <a:latin typeface="Inter"/>
              </a:rPr>
              <a:t>Entender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14600" y="5760720"/>
            <a:ext cx="37490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472"/>
                </a:solidFill>
                <a:latin typeface="Inter"/>
              </a:rPr>
              <a:t>Traducir una tabla de gastos en una decisión.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03720" y="1133856"/>
            <a:ext cx="4416552" cy="4828032"/>
          </a:xfrm>
          <a:prstGeom prst="roundRect">
            <a:avLst>
              <a:gd name="adj" fmla="val 3312"/>
            </a:avLst>
          </a:prstGeom>
          <a:solidFill>
            <a:srgbClr val="FFFFFF"/>
          </a:solidFill>
          <a:ln w="12700">
            <a:solidFill>
              <a:srgbClr val="E4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287768" y="1554480"/>
            <a:ext cx="364845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19">
                <a:solidFill>
                  <a:srgbClr val="5A6472"/>
                </a:solidFill>
                <a:latin typeface="Inter"/>
              </a:rPr>
              <a:t>Lo que la gente quiere saber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87768" y="1975104"/>
            <a:ext cx="3648456" cy="2400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31A2A"/>
                </a:solidFill>
                <a:latin typeface="Inter"/>
              </a:rPr>
              <a:t>¿A dónde se está yendo mi dinero?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287768" y="2361438"/>
            <a:ext cx="3648456" cy="0"/>
          </a:xfrm>
          <a:prstGeom prst="line">
            <a:avLst/>
          </a:prstGeom>
          <a:ln w="12700">
            <a:solidFill>
              <a:srgbClr val="EFF0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287768" y="2507742"/>
            <a:ext cx="3648456" cy="2400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31A2A"/>
                </a:solidFill>
                <a:latin typeface="Inter"/>
              </a:rPr>
              <a:t>¿Estoy gastando más de lo habitual?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287768" y="2894076"/>
            <a:ext cx="3648456" cy="0"/>
          </a:xfrm>
          <a:prstGeom prst="line">
            <a:avLst/>
          </a:prstGeom>
          <a:ln w="12700">
            <a:solidFill>
              <a:srgbClr val="EFF0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287768" y="3040380"/>
            <a:ext cx="3648456" cy="2400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31A2A"/>
                </a:solidFill>
                <a:latin typeface="Inter"/>
              </a:rPr>
              <a:t>¿Puedo permitirme algo?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287768" y="3426714"/>
            <a:ext cx="3648456" cy="0"/>
          </a:xfrm>
          <a:prstGeom prst="line">
            <a:avLst/>
          </a:prstGeom>
          <a:ln w="12700">
            <a:solidFill>
              <a:srgbClr val="EFF0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287768" y="3573018"/>
            <a:ext cx="3648456" cy="4800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31A2A"/>
                </a:solidFill>
                <a:latin typeface="Inter"/>
              </a:rPr>
              <a:t>¿Cuánto puedo ahorrar de forma</a:t>
            </a:r>
          </a:p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31A2A"/>
                </a:solidFill>
                <a:latin typeface="Inter"/>
              </a:rPr>
              <a:t>realista?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287768" y="4199382"/>
            <a:ext cx="3648456" cy="0"/>
          </a:xfrm>
          <a:prstGeom prst="line">
            <a:avLst/>
          </a:prstGeom>
          <a:ln w="12700">
            <a:solidFill>
              <a:srgbClr val="EFF0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287768" y="4345686"/>
            <a:ext cx="3648456" cy="4800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31A2A"/>
                </a:solidFill>
                <a:latin typeface="Inter"/>
              </a:rPr>
              <a:t>¿Qué podría cambiar para alcanzar una</a:t>
            </a:r>
          </a:p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31A2A"/>
                </a:solidFill>
                <a:latin typeface="Inter"/>
              </a:rPr>
              <a:t>meta?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287768" y="4972050"/>
            <a:ext cx="3648456" cy="0"/>
          </a:xfrm>
          <a:prstGeom prst="line">
            <a:avLst/>
          </a:prstGeom>
          <a:ln w="12700">
            <a:solidFill>
              <a:srgbClr val="EFF0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7287768" y="5118354"/>
            <a:ext cx="3648456" cy="4800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31A2A"/>
                </a:solidFill>
                <a:latin typeface="Inter"/>
              </a:rPr>
              <a:t>¿Qué gastos están afectando mi</a:t>
            </a:r>
          </a:p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31A2A"/>
                </a:solidFill>
                <a:latin typeface="Inter"/>
              </a:rPr>
              <a:t>capacidad de ahorrar?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87768" y="5763006"/>
            <a:ext cx="3648456" cy="209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6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472"/>
                </a:solidFill>
                <a:latin typeface="Inter"/>
              </a:rPr>
              <a:t>Preguntas documentadas en el contexto de producto de Suma.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68680" y="530352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19">
                <a:solidFill>
                  <a:srgbClr val="131A2A"/>
                </a:solidFill>
                <a:latin typeface="Inter"/>
              </a:rPr>
              <a:t>03 </a:t>
            </a:r>
            <a:r>
              <a:rPr sz="950" b="1" spc="19">
                <a:solidFill>
                  <a:srgbClr val="5A6472"/>
                </a:solidFill>
                <a:latin typeface="Inter"/>
              </a:rPr>
              <a:t>EL INSIGHT</a:t>
            </a:r>
          </a:p>
        </p:txBody>
      </p:sp>
      <p:pic>
        <p:nvPicPr>
          <p:cNvPr id="4" name="Picture 3" descr="mark-grad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6327648"/>
            <a:ext cx="137160" cy="137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408615" y="6318504"/>
            <a:ext cx="914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105"/>
              </a:lnSpc>
              <a:spcBef>
                <a:spcPts val="0"/>
              </a:spcBef>
              <a:spcAft>
                <a:spcPts val="0"/>
              </a:spcAft>
            </a:pPr>
            <a:r>
              <a:rPr sz="850" b="1" spc="17">
                <a:solidFill>
                  <a:srgbClr val="767F8C"/>
                </a:solidFill>
                <a:latin typeface="Inter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133856"/>
            <a:ext cx="10058400" cy="1274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4872"/>
              </a:lnSpc>
              <a:spcBef>
                <a:spcPts val="0"/>
              </a:spcBef>
              <a:spcAft>
                <a:spcPts val="0"/>
              </a:spcAft>
            </a:pPr>
            <a:r>
              <a:rPr sz="4200" b="1" spc="-84">
                <a:solidFill>
                  <a:srgbClr val="131A2A"/>
                </a:solidFill>
                <a:latin typeface="Inter"/>
              </a:rPr>
              <a:t>Las personas ya saben</a:t>
            </a:r>
          </a:p>
          <a:p>
            <a:pPr algn="l">
              <a:lnSpc>
                <a:spcPts val="4872"/>
              </a:lnSpc>
              <a:spcBef>
                <a:spcPts val="0"/>
              </a:spcBef>
              <a:spcAft>
                <a:spcPts val="0"/>
              </a:spcAft>
            </a:pPr>
            <a:r>
              <a:rPr sz="4200" b="1" spc="-84">
                <a:solidFill>
                  <a:srgbClr val="131A2A"/>
                </a:solidFill>
                <a:latin typeface="Inter"/>
              </a:rPr>
              <a:t>hablar de su dinero.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761488"/>
            <a:ext cx="7863840" cy="6692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635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A6472"/>
                </a:solidFill>
                <a:latin typeface="Inter"/>
              </a:rPr>
              <a:t>Lo que no deberían necesitar es aprender un sistema financiero para</a:t>
            </a:r>
          </a:p>
          <a:p>
            <a:pPr algn="l">
              <a:lnSpc>
                <a:spcPts val="2635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A6472"/>
                </a:solidFill>
                <a:latin typeface="Inter"/>
              </a:rPr>
              <a:t>empezar a entenderlo.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3639312"/>
            <a:ext cx="5074920" cy="2212848"/>
          </a:xfrm>
          <a:prstGeom prst="roundRect">
            <a:avLst>
              <a:gd name="adj" fmla="val 12396"/>
            </a:avLst>
          </a:prstGeom>
          <a:solidFill>
            <a:srgbClr val="F4F5F3"/>
          </a:solidFill>
          <a:ln w="12700">
            <a:solidFill>
              <a:srgbClr val="EFF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07592" y="4023360"/>
            <a:ext cx="4114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19">
                <a:solidFill>
                  <a:srgbClr val="5A6472"/>
                </a:solidFill>
                <a:latin typeface="Inter"/>
              </a:rPr>
              <a:t>Lo que dices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07592" y="4425696"/>
            <a:ext cx="4206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spc="-48">
                <a:solidFill>
                  <a:srgbClr val="131A2A"/>
                </a:solidFill>
                <a:latin typeface="Inter"/>
              </a:rPr>
              <a:t>«Ayer gasté 180 pesos</a:t>
            </a:r>
          </a:p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spc="-48">
                <a:solidFill>
                  <a:srgbClr val="131A2A"/>
                </a:solidFill>
                <a:latin typeface="Inter"/>
              </a:rPr>
              <a:t>en Costco en el súper.»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4581144"/>
            <a:ext cx="777240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ts val="2879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767F8C"/>
                </a:solidFill>
                <a:latin typeface="Inter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20840" y="3639312"/>
            <a:ext cx="4602175" cy="2212848"/>
          </a:xfrm>
          <a:prstGeom prst="roundRect">
            <a:avLst>
              <a:gd name="adj" fmla="val 6611"/>
            </a:avLst>
          </a:prstGeom>
          <a:solidFill>
            <a:srgbClr val="FFFFFF"/>
          </a:solidFill>
          <a:ln w="12700">
            <a:solidFill>
              <a:srgbClr val="E4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159752" y="4023360"/>
            <a:ext cx="372435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19">
                <a:solidFill>
                  <a:srgbClr val="5A6472"/>
                </a:solidFill>
                <a:latin typeface="Inter"/>
              </a:rPr>
              <a:t>Lo que Suma guarda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59752" y="4462272"/>
            <a:ext cx="11887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472"/>
                </a:solidFill>
                <a:latin typeface="Inter"/>
              </a:rPr>
              <a:t>Monto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59752" y="4626864"/>
            <a:ext cx="167929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31A2A"/>
                </a:solidFill>
                <a:latin typeface="Inter"/>
              </a:rPr>
              <a:t>$180.00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21927" y="4462272"/>
            <a:ext cx="11887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472"/>
                </a:solidFill>
                <a:latin typeface="Inter"/>
              </a:rPr>
              <a:t>Moneda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21927" y="4626864"/>
            <a:ext cx="167929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31A2A"/>
                </a:solidFill>
                <a:latin typeface="Inter"/>
              </a:rPr>
              <a:t>MXN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59752" y="4901183"/>
            <a:ext cx="11887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472"/>
                </a:solidFill>
                <a:latin typeface="Inter"/>
              </a:rPr>
              <a:t>Concepto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59752" y="5065775"/>
            <a:ext cx="167929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31A2A"/>
                </a:solidFill>
                <a:latin typeface="Inter"/>
              </a:rPr>
              <a:t>Costco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21927" y="4901183"/>
            <a:ext cx="11887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472"/>
                </a:solidFill>
                <a:latin typeface="Inter"/>
              </a:rPr>
              <a:t>Categoría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21927" y="5065775"/>
            <a:ext cx="167929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31A2A"/>
                </a:solidFill>
                <a:latin typeface="Inter"/>
              </a:rPr>
              <a:t>Súper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9752" y="5340096"/>
            <a:ext cx="11887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472"/>
                </a:solidFill>
                <a:latin typeface="Inter"/>
              </a:rPr>
              <a:t>Fecha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59752" y="5504688"/>
            <a:ext cx="167929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31A2A"/>
                </a:solidFill>
                <a:latin typeface="Inter"/>
              </a:rPr>
              <a:t>28 ago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21927" y="5340096"/>
            <a:ext cx="11887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472"/>
                </a:solidFill>
                <a:latin typeface="Inter"/>
              </a:rPr>
              <a:t>Entrada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21927" y="5504688"/>
            <a:ext cx="167929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31A2A"/>
                </a:solidFill>
                <a:latin typeface="Inter"/>
              </a:rPr>
              <a:t>Voz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6053328"/>
            <a:ext cx="10058400" cy="209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6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472"/>
                </a:solidFill>
                <a:latin typeface="Inter"/>
              </a:rPr>
              <a:t>Ejemplo de extracción documentado en el contexto de producto. «Ayer» se resuelve contra la zona horaria de la persona: la fecha del gasto nunca se sobrescribe con la de registro.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68680" y="530352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19">
                <a:solidFill>
                  <a:srgbClr val="131A2A"/>
                </a:solidFill>
                <a:latin typeface="Inter"/>
              </a:rPr>
              <a:t>04 </a:t>
            </a:r>
            <a:r>
              <a:rPr sz="950" b="1" spc="19">
                <a:solidFill>
                  <a:srgbClr val="5A6472"/>
                </a:solidFill>
                <a:latin typeface="Inter"/>
              </a:rPr>
              <a:t>LA IDEA</a:t>
            </a:r>
          </a:p>
        </p:txBody>
      </p:sp>
      <p:pic>
        <p:nvPicPr>
          <p:cNvPr id="4" name="Picture 3" descr="mark-grad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6327648"/>
            <a:ext cx="137160" cy="137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408615" y="6318504"/>
            <a:ext cx="914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105"/>
              </a:lnSpc>
              <a:spcBef>
                <a:spcPts val="0"/>
              </a:spcBef>
              <a:spcAft>
                <a:spcPts val="0"/>
              </a:spcAft>
            </a:pPr>
            <a:r>
              <a:rPr sz="850" b="1" spc="17">
                <a:solidFill>
                  <a:srgbClr val="767F8C"/>
                </a:solidFill>
                <a:latin typeface="Inter"/>
              </a:rPr>
              <a:t>04</a:t>
            </a:r>
          </a:p>
        </p:txBody>
      </p:sp>
      <p:pic>
        <p:nvPicPr>
          <p:cNvPr id="6" name="Picture 5" descr="mark-grad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078992"/>
            <a:ext cx="420624" cy="4206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" y="1664207"/>
            <a:ext cx="10515600" cy="537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944"/>
              </a:lnSpc>
              <a:spcBef>
                <a:spcPts val="0"/>
              </a:spcBef>
              <a:spcAft>
                <a:spcPts val="0"/>
              </a:spcAft>
            </a:pPr>
            <a:r>
              <a:rPr sz="3400" b="1" spc="-68">
                <a:solidFill>
                  <a:srgbClr val="131A2A"/>
                </a:solidFill>
                <a:latin typeface="Inter"/>
              </a:rPr>
              <a:t>Habla. Escribe. Fotografía.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50592"/>
            <a:ext cx="8046720" cy="6692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635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A6472"/>
                </a:solidFill>
                <a:latin typeface="Inter"/>
              </a:rPr>
              <a:t>Suma convierte cualquiera de esas tres entradas en un gasto</a:t>
            </a:r>
          </a:p>
          <a:p>
            <a:pPr algn="l">
              <a:lnSpc>
                <a:spcPts val="2635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A6472"/>
                </a:solidFill>
                <a:latin typeface="Inter"/>
              </a:rPr>
              <a:t>estructurado, revisable y tuyo.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3127248"/>
            <a:ext cx="3346704" cy="283464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4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252728" y="352958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31A2A"/>
                </a:solidFill>
                <a:latin typeface="Inter"/>
              </a:rPr>
              <a:t>Voz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252728" y="4023360"/>
            <a:ext cx="2578608" cy="0"/>
          </a:xfrm>
          <a:prstGeom prst="line">
            <a:avLst/>
          </a:prstGeom>
          <a:ln w="12700">
            <a:solidFill>
              <a:srgbClr val="EFF0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252728" y="4206240"/>
            <a:ext cx="2578608" cy="877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31A2A"/>
                </a:solidFill>
                <a:latin typeface="Inter"/>
              </a:rPr>
              <a:t>«Ayer gasté 180 pesos en</a:t>
            </a:r>
          </a:p>
          <a:p>
            <a:pPr algn="l"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31A2A"/>
                </a:solidFill>
                <a:latin typeface="Inter"/>
              </a:rPr>
              <a:t>Costco en el súper.»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52728" y="5175504"/>
            <a:ext cx="2578608" cy="6076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95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472"/>
                </a:solidFill>
                <a:latin typeface="Inter"/>
              </a:rPr>
              <a:t>Habla como se lo contarías a</a:t>
            </a:r>
          </a:p>
          <a:p>
            <a:pPr algn="l">
              <a:lnSpc>
                <a:spcPts val="1595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472"/>
                </a:solidFill>
                <a:latin typeface="Inter"/>
              </a:rPr>
              <a:t>alguien. Diez estados de voz, cada</a:t>
            </a:r>
          </a:p>
          <a:p>
            <a:pPr algn="l">
              <a:lnSpc>
                <a:spcPts val="1595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472"/>
                </a:solidFill>
                <a:latin typeface="Inter"/>
              </a:rPr>
              <a:t>uno con texto visible.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99432" y="3127248"/>
            <a:ext cx="3346704" cy="283464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4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983480" y="352958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31A2A"/>
                </a:solidFill>
                <a:latin typeface="Inter"/>
              </a:rPr>
              <a:t>Texto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983480" y="4023360"/>
            <a:ext cx="2578608" cy="0"/>
          </a:xfrm>
          <a:prstGeom prst="line">
            <a:avLst/>
          </a:prstGeom>
          <a:ln w="12700">
            <a:solidFill>
              <a:srgbClr val="EFF0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983480" y="4206240"/>
            <a:ext cx="2578608" cy="877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31A2A"/>
                </a:solidFill>
                <a:latin typeface="Inter"/>
              </a:rPr>
              <a:t>«¿Cuánto llevo gastado</a:t>
            </a:r>
          </a:p>
          <a:p>
            <a:pPr algn="l"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31A2A"/>
                </a:solidFill>
                <a:latin typeface="Inter"/>
              </a:rPr>
              <a:t>en cafés este mes?»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83480" y="5175504"/>
            <a:ext cx="2578608" cy="6076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95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472"/>
                </a:solidFill>
                <a:latin typeface="Inter"/>
              </a:rPr>
              <a:t>Registra, corrige y pregunta en el</a:t>
            </a:r>
          </a:p>
          <a:p>
            <a:pPr algn="l">
              <a:lnSpc>
                <a:spcPts val="1595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472"/>
                </a:solidFill>
                <a:latin typeface="Inter"/>
              </a:rPr>
              <a:t>mismo hilo. La conversación es la</a:t>
            </a:r>
          </a:p>
          <a:p>
            <a:pPr algn="l">
              <a:lnSpc>
                <a:spcPts val="1595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472"/>
                </a:solidFill>
                <a:latin typeface="Inter"/>
              </a:rPr>
              <a:t>app.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30183" y="3127248"/>
            <a:ext cx="3346704" cy="283464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4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714232" y="352958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31A2A"/>
                </a:solidFill>
                <a:latin typeface="Inter"/>
              </a:rPr>
              <a:t>Recibo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714232" y="4023360"/>
            <a:ext cx="2578608" cy="0"/>
          </a:xfrm>
          <a:prstGeom prst="line">
            <a:avLst/>
          </a:prstGeom>
          <a:ln w="12700">
            <a:solidFill>
              <a:srgbClr val="EFF0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714232" y="4206240"/>
            <a:ext cx="2578608" cy="877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31A2A"/>
                </a:solidFill>
                <a:latin typeface="Inter"/>
              </a:rPr>
              <a:t>Costco · Total $522.00</a:t>
            </a:r>
          </a:p>
          <a:p>
            <a:pPr algn="l"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31A2A"/>
                </a:solidFill>
                <a:latin typeface="Inter"/>
              </a:rPr>
              <a:t>28 ago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14232" y="5175504"/>
            <a:ext cx="2578608" cy="6076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95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472"/>
                </a:solidFill>
                <a:latin typeface="Inter"/>
              </a:rPr>
              <a:t>Sube o toma la foto. Suma lee lo que</a:t>
            </a:r>
          </a:p>
          <a:p>
            <a:pPr algn="l">
              <a:lnSpc>
                <a:spcPts val="1595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472"/>
                </a:solidFill>
                <a:latin typeface="Inter"/>
              </a:rPr>
              <a:t>hay; lo que no puede leer, lo</a:t>
            </a:r>
          </a:p>
          <a:p>
            <a:pPr algn="l">
              <a:lnSpc>
                <a:spcPts val="1595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472"/>
                </a:solidFill>
                <a:latin typeface="Inter"/>
              </a:rPr>
              <a:t>pregunta.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68680" y="530352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19">
                <a:solidFill>
                  <a:srgbClr val="131A2A"/>
                </a:solidFill>
                <a:latin typeface="Inter"/>
              </a:rPr>
              <a:t>05 </a:t>
            </a:r>
            <a:r>
              <a:rPr sz="950" b="1" spc="19">
                <a:solidFill>
                  <a:srgbClr val="5A6472"/>
                </a:solidFill>
                <a:latin typeface="Inter"/>
              </a:rPr>
              <a:t>CÓMO FUNCIONA</a:t>
            </a:r>
          </a:p>
        </p:txBody>
      </p:sp>
      <p:pic>
        <p:nvPicPr>
          <p:cNvPr id="4" name="Picture 3" descr="mark-grad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6327648"/>
            <a:ext cx="137160" cy="137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408615" y="6318504"/>
            <a:ext cx="914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105"/>
              </a:lnSpc>
              <a:spcBef>
                <a:spcPts val="0"/>
              </a:spcBef>
              <a:spcAft>
                <a:spcPts val="0"/>
              </a:spcAft>
            </a:pPr>
            <a:r>
              <a:rPr sz="850" b="1" spc="17">
                <a:solidFill>
                  <a:srgbClr val="767F8C"/>
                </a:solidFill>
                <a:latin typeface="Inter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133856"/>
            <a:ext cx="7863840" cy="10383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944"/>
              </a:lnSpc>
              <a:spcBef>
                <a:spcPts val="0"/>
              </a:spcBef>
              <a:spcAft>
                <a:spcPts val="0"/>
              </a:spcAft>
            </a:pPr>
            <a:r>
              <a:rPr sz="3400" b="1" spc="-68">
                <a:solidFill>
                  <a:srgbClr val="131A2A"/>
                </a:solidFill>
                <a:latin typeface="Inter"/>
              </a:rPr>
              <a:t>Un solo camino,</a:t>
            </a:r>
          </a:p>
          <a:p>
            <a:pPr algn="l">
              <a:lnSpc>
                <a:spcPts val="3944"/>
              </a:lnSpc>
              <a:spcBef>
                <a:spcPts val="0"/>
              </a:spcBef>
              <a:spcAft>
                <a:spcPts val="0"/>
              </a:spcAft>
            </a:pPr>
            <a:r>
              <a:rPr sz="3400" b="1" spc="-68">
                <a:solidFill>
                  <a:srgbClr val="131A2A"/>
                </a:solidFill>
                <a:latin typeface="Inter"/>
              </a:rPr>
              <a:t>sin importar cómo entres.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87168"/>
            <a:ext cx="7863840" cy="590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3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472"/>
                </a:solidFill>
                <a:latin typeface="Inter"/>
              </a:rPr>
              <a:t>Voz, texto y recibo entran por el mismo pipeline y salen como el mismo gasto</a:t>
            </a:r>
          </a:p>
          <a:p>
            <a:pPr algn="l">
              <a:lnSpc>
                <a:spcPts val="23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472"/>
                </a:solidFill>
                <a:latin typeface="Inter"/>
              </a:rPr>
              <a:t>normalizado.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3310128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F1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68680" y="3429000"/>
            <a:ext cx="1417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31A2A"/>
                </a:solidFill>
                <a:latin typeface="Inter"/>
              </a:rPr>
              <a:t>Voz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3950208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F1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4069080"/>
            <a:ext cx="1417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31A2A"/>
                </a:solidFill>
                <a:latin typeface="Inter"/>
              </a:rPr>
              <a:t>Texto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4590288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F1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68680" y="4709159"/>
            <a:ext cx="1417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31A2A"/>
                </a:solidFill>
                <a:latin typeface="Inter"/>
              </a:rPr>
              <a:t>Recibo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97480" y="3538728"/>
            <a:ext cx="0" cy="1280160"/>
          </a:xfrm>
          <a:prstGeom prst="line">
            <a:avLst/>
          </a:prstGeom>
          <a:ln w="19050">
            <a:solidFill>
              <a:srgbClr val="E4E6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286000" y="3538728"/>
            <a:ext cx="411480" cy="0"/>
          </a:xfrm>
          <a:prstGeom prst="line">
            <a:avLst/>
          </a:prstGeom>
          <a:ln w="19050">
            <a:solidFill>
              <a:srgbClr val="E4E6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286000" y="4178808"/>
            <a:ext cx="411480" cy="0"/>
          </a:xfrm>
          <a:prstGeom prst="line">
            <a:avLst/>
          </a:prstGeom>
          <a:ln w="19050">
            <a:solidFill>
              <a:srgbClr val="E4E6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286000" y="4818888"/>
            <a:ext cx="411480" cy="0"/>
          </a:xfrm>
          <a:prstGeom prst="line">
            <a:avLst/>
          </a:prstGeom>
          <a:ln w="19050">
            <a:solidFill>
              <a:srgbClr val="E4E6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697480" y="4178808"/>
            <a:ext cx="384048" cy="0"/>
          </a:xfrm>
          <a:prstGeom prst="line">
            <a:avLst/>
          </a:prstGeom>
          <a:ln w="19050">
            <a:solidFill>
              <a:srgbClr val="E4E6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081528" y="3310128"/>
            <a:ext cx="1554480" cy="1188720"/>
          </a:xfrm>
          <a:prstGeom prst="roundRect">
            <a:avLst>
              <a:gd name="adj" fmla="val 12307"/>
            </a:avLst>
          </a:prstGeom>
          <a:solidFill>
            <a:srgbClr val="FFFFFF"/>
          </a:solidFill>
          <a:ln w="12700">
            <a:solidFill>
              <a:srgbClr val="E4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3264408" y="3529584"/>
            <a:ext cx="118871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31A2A"/>
                </a:solidFill>
                <a:latin typeface="Inter"/>
              </a:rPr>
              <a:t>Extracción</a:t>
            </a:r>
          </a:p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31A2A"/>
                </a:solidFill>
                <a:latin typeface="Inter"/>
              </a:rPr>
              <a:t>con 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9544" y="4626864"/>
            <a:ext cx="129844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ts val="1275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472"/>
                </a:solidFill>
                <a:latin typeface="Inter"/>
              </a:rPr>
              <a:t>Monto, moneda,</a:t>
            </a:r>
          </a:p>
          <a:p>
            <a:pPr algn="ctr">
              <a:lnSpc>
                <a:spcPts val="1275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472"/>
                </a:solidFill>
                <a:latin typeface="Inter"/>
              </a:rPr>
              <a:t>concepto,</a:t>
            </a:r>
          </a:p>
          <a:p>
            <a:pPr algn="ctr">
              <a:lnSpc>
                <a:spcPts val="1275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472"/>
                </a:solidFill>
                <a:latin typeface="Inter"/>
              </a:rPr>
              <a:t>categoría y fecha.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36008" y="3785615"/>
            <a:ext cx="1280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767F8C"/>
                </a:solidFill>
                <a:latin typeface="Inter"/>
              </a:rPr>
              <a:t>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64024" y="3310128"/>
            <a:ext cx="1554480" cy="1188720"/>
          </a:xfrm>
          <a:prstGeom prst="roundRect">
            <a:avLst>
              <a:gd name="adj" fmla="val 12307"/>
            </a:avLst>
          </a:prstGeom>
          <a:solidFill>
            <a:srgbClr val="FFFFFF"/>
          </a:solidFill>
          <a:ln w="12700">
            <a:solidFill>
              <a:srgbClr val="E4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946904" y="3529584"/>
            <a:ext cx="118871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31A2A"/>
                </a:solidFill>
                <a:latin typeface="Inter"/>
              </a:rPr>
              <a:t>Validación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4626864"/>
            <a:ext cx="129844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ts val="1275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472"/>
                </a:solidFill>
                <a:latin typeface="Inter"/>
              </a:rPr>
              <a:t>Estructura, tipos,</a:t>
            </a:r>
          </a:p>
          <a:p>
            <a:pPr algn="ctr">
              <a:lnSpc>
                <a:spcPts val="1275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472"/>
                </a:solidFill>
                <a:latin typeface="Inter"/>
              </a:rPr>
              <a:t>fechas</a:t>
            </a:r>
          </a:p>
          <a:p>
            <a:pPr algn="ctr">
              <a:lnSpc>
                <a:spcPts val="1275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472"/>
                </a:solidFill>
                <a:latin typeface="Inter"/>
              </a:rPr>
              <a:t>y categorías.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18504" y="3785615"/>
            <a:ext cx="1280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767F8C"/>
                </a:solidFill>
                <a:latin typeface="Inter"/>
              </a:rPr>
              <a:t>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46520" y="3310128"/>
            <a:ext cx="1554480" cy="1188720"/>
          </a:xfrm>
          <a:prstGeom prst="roundRect">
            <a:avLst>
              <a:gd name="adj" fmla="val 12307"/>
            </a:avLst>
          </a:prstGeom>
          <a:solidFill>
            <a:srgbClr val="FFFFFF"/>
          </a:solidFill>
          <a:ln w="12700">
            <a:solidFill>
              <a:srgbClr val="E4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629400" y="3529584"/>
            <a:ext cx="118871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31A2A"/>
                </a:solidFill>
                <a:latin typeface="Inter"/>
              </a:rPr>
              <a:t>Revisión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74536" y="4626864"/>
            <a:ext cx="129844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ts val="1275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472"/>
                </a:solidFill>
                <a:latin typeface="Inter"/>
              </a:rPr>
              <a:t>Suma muestra lo que</a:t>
            </a:r>
          </a:p>
          <a:p>
            <a:pPr algn="ctr">
              <a:lnSpc>
                <a:spcPts val="1275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472"/>
                </a:solidFill>
                <a:latin typeface="Inter"/>
              </a:rPr>
              <a:t>entendió. Todo</a:t>
            </a:r>
          </a:p>
          <a:p>
            <a:pPr algn="ctr">
              <a:lnSpc>
                <a:spcPts val="1275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472"/>
                </a:solidFill>
                <a:latin typeface="Inter"/>
              </a:rPr>
              <a:t>editable.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1000" y="3785615"/>
            <a:ext cx="1280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767F8C"/>
                </a:solidFill>
                <a:latin typeface="Inter"/>
              </a:rPr>
              <a:t>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29016" y="3310128"/>
            <a:ext cx="1554480" cy="1188720"/>
          </a:xfrm>
          <a:prstGeom prst="roundRect">
            <a:avLst>
              <a:gd name="adj" fmla="val 12307"/>
            </a:avLst>
          </a:prstGeom>
          <a:solidFill>
            <a:srgbClr val="FFFFFF"/>
          </a:solidFill>
          <a:ln w="12700">
            <a:solidFill>
              <a:srgbClr val="E4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311896" y="3529584"/>
            <a:ext cx="118871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31A2A"/>
                </a:solidFill>
                <a:latin typeface="Inter"/>
              </a:rPr>
              <a:t>Guardado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57032" y="4626864"/>
            <a:ext cx="129844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ts val="1275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472"/>
                </a:solidFill>
                <a:latin typeface="Inter"/>
              </a:rPr>
              <a:t>Fila optimista,</a:t>
            </a:r>
          </a:p>
          <a:p>
            <a:pPr algn="ctr">
              <a:lnSpc>
                <a:spcPts val="1275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472"/>
                </a:solidFill>
                <a:latin typeface="Inter"/>
              </a:rPr>
              <a:t>confirmación</a:t>
            </a:r>
          </a:p>
          <a:p>
            <a:pPr algn="ctr">
              <a:lnSpc>
                <a:spcPts val="1275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472"/>
                </a:solidFill>
                <a:latin typeface="Inter"/>
              </a:rPr>
              <a:t>y «Deshacer» 5 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83496" y="3785615"/>
            <a:ext cx="1280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767F8C"/>
                </a:solidFill>
                <a:latin typeface="Inter"/>
              </a:rPr>
              <a:t>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811512" y="3310128"/>
            <a:ext cx="1554480" cy="1188720"/>
          </a:xfrm>
          <a:prstGeom prst="roundRect">
            <a:avLst>
              <a:gd name="adj" fmla="val 12307"/>
            </a:avLst>
          </a:prstGeom>
          <a:solidFill>
            <a:srgbClr val="FFFFFF"/>
          </a:solidFill>
          <a:ln w="12700">
            <a:solidFill>
              <a:srgbClr val="E4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994392" y="3529584"/>
            <a:ext cx="118871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31A2A"/>
                </a:solidFill>
                <a:latin typeface="Inter"/>
              </a:rPr>
              <a:t>Insight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39528" y="4626864"/>
            <a:ext cx="129844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ts val="1275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472"/>
                </a:solidFill>
                <a:latin typeface="Inter"/>
              </a:rPr>
              <a:t>Alimenta historial,</a:t>
            </a:r>
          </a:p>
          <a:p>
            <a:pPr algn="ctr">
              <a:lnSpc>
                <a:spcPts val="1275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472"/>
                </a:solidFill>
                <a:latin typeface="Inter"/>
              </a:rPr>
              <a:t>métricas,</a:t>
            </a:r>
          </a:p>
          <a:p>
            <a:pPr algn="ctr">
              <a:lnSpc>
                <a:spcPts val="1275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472"/>
                </a:solidFill>
                <a:latin typeface="Inter"/>
              </a:rPr>
              <a:t>chat e insights.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868680" y="5650992"/>
            <a:ext cx="10454335" cy="0"/>
          </a:xfrm>
          <a:prstGeom prst="line">
            <a:avLst/>
          </a:prstGeom>
          <a:ln w="12700">
            <a:solidFill>
              <a:srgbClr val="E4E6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868680" y="5815584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31A2A"/>
                </a:solidFill>
                <a:latin typeface="Inter"/>
              </a:rPr>
              <a:t>Toda salida del modelo se valida antes de tocar el almacenamiento. </a:t>
            </a:r>
            <a:r>
              <a:rPr sz="1250" b="0">
                <a:solidFill>
                  <a:srgbClr val="5A6472"/>
                </a:solidFill>
                <a:latin typeface="Inter"/>
              </a:rPr>
              <a:t>Nunca se guarda un dato que la persona no haya visto.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68680" y="530352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19">
                <a:solidFill>
                  <a:srgbClr val="131A2A"/>
                </a:solidFill>
                <a:latin typeface="Inter"/>
              </a:rPr>
              <a:t>06 </a:t>
            </a:r>
            <a:r>
              <a:rPr sz="950" b="1" spc="19">
                <a:solidFill>
                  <a:srgbClr val="5A6472"/>
                </a:solidFill>
                <a:latin typeface="Inter"/>
              </a:rPr>
              <a:t>LA EXPERIENCIA</a:t>
            </a:r>
          </a:p>
        </p:txBody>
      </p:sp>
      <p:pic>
        <p:nvPicPr>
          <p:cNvPr id="4" name="Picture 3" descr="mark-grad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6327648"/>
            <a:ext cx="137160" cy="137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408615" y="6318504"/>
            <a:ext cx="914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105"/>
              </a:lnSpc>
              <a:spcBef>
                <a:spcPts val="0"/>
              </a:spcBef>
              <a:spcAft>
                <a:spcPts val="0"/>
              </a:spcAft>
            </a:pPr>
            <a:r>
              <a:rPr sz="850" b="1" spc="17">
                <a:solidFill>
                  <a:srgbClr val="767F8C"/>
                </a:solidFill>
                <a:latin typeface="Inter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133856"/>
            <a:ext cx="7863840" cy="10383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944"/>
              </a:lnSpc>
              <a:spcBef>
                <a:spcPts val="0"/>
              </a:spcBef>
              <a:spcAft>
                <a:spcPts val="0"/>
              </a:spcAft>
            </a:pPr>
            <a:r>
              <a:rPr sz="3400" b="1" spc="-68">
                <a:solidFill>
                  <a:srgbClr val="131A2A"/>
                </a:solidFill>
                <a:latin typeface="Inter"/>
              </a:rPr>
              <a:t>Cinco superficies,</a:t>
            </a:r>
          </a:p>
          <a:p>
            <a:pPr algn="l">
              <a:lnSpc>
                <a:spcPts val="3944"/>
              </a:lnSpc>
              <a:spcBef>
                <a:spcPts val="0"/>
              </a:spcBef>
              <a:spcAft>
                <a:spcPts val="0"/>
              </a:spcAft>
            </a:pPr>
            <a:r>
              <a:rPr sz="3400" b="1" spc="-68">
                <a:solidFill>
                  <a:srgbClr val="131A2A"/>
                </a:solidFill>
                <a:latin typeface="Inter"/>
              </a:rPr>
              <a:t>una sola conversación.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87168"/>
            <a:ext cx="8046720" cy="3318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3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472"/>
                </a:solidFill>
                <a:latin typeface="Inter"/>
              </a:rPr>
              <a:t>El hilo es la superficie principal: los datos viven dentro de la conversación.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054096"/>
            <a:ext cx="1920240" cy="2889504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4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87552" y="3236976"/>
            <a:ext cx="159105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19">
                <a:solidFill>
                  <a:srgbClr val="5A6472"/>
                </a:solidFill>
                <a:latin typeface="Inter"/>
              </a:rPr>
              <a:t>Voz</a:t>
            </a:r>
          </a:p>
        </p:txBody>
      </p:sp>
      <p:sp>
        <p:nvSpPr>
          <p:cNvPr id="10" name="Oval 9"/>
          <p:cNvSpPr/>
          <p:nvPr/>
        </p:nvSpPr>
        <p:spPr>
          <a:xfrm>
            <a:off x="1380744" y="3767328"/>
            <a:ext cx="804672" cy="804672"/>
          </a:xfrm>
          <a:prstGeom prst="ellipse">
            <a:avLst/>
          </a:prstGeom>
          <a:solidFill>
            <a:srgbClr val="F4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mark-grad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1912" y="3968496"/>
            <a:ext cx="402336" cy="40233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50976" y="4754880"/>
            <a:ext cx="166420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31A2A"/>
                </a:solidFill>
                <a:latin typeface="Inter"/>
              </a:rPr>
              <a:t>Te escucho…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5029200"/>
            <a:ext cx="166420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ts val="1105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472"/>
                </a:solidFill>
                <a:latin typeface="Inter"/>
              </a:rPr>
              <a:t>Cancelar · Escribirlo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5394960"/>
            <a:ext cx="159105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ts val="1232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472"/>
                </a:solidFill>
                <a:latin typeface="Inter"/>
              </a:rPr>
              <a:t>Diez estados, cada uno con</a:t>
            </a:r>
          </a:p>
          <a:p>
            <a:pPr algn="ctr">
              <a:lnSpc>
                <a:spcPts val="1232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472"/>
                </a:solidFill>
                <a:latin typeface="Inter"/>
              </a:rPr>
              <a:t>texto visible.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80944" y="3054096"/>
            <a:ext cx="1920240" cy="2889504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4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145536" y="3236976"/>
            <a:ext cx="159105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19">
                <a:solidFill>
                  <a:srgbClr val="5A6472"/>
                </a:solidFill>
                <a:latin typeface="Inter"/>
              </a:rPr>
              <a:t>Texto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83280" y="3547872"/>
            <a:ext cx="1353312" cy="512064"/>
          </a:xfrm>
          <a:prstGeom prst="roundRect">
            <a:avLst>
              <a:gd name="adj" fmla="val 35714"/>
            </a:avLst>
          </a:prstGeom>
          <a:solidFill>
            <a:srgbClr val="F4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3511296" y="3657600"/>
            <a:ext cx="10972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232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131A2A"/>
                </a:solidFill>
                <a:latin typeface="Inter"/>
              </a:rPr>
              <a:t>Pagué 120 pesos</a:t>
            </a:r>
          </a:p>
          <a:p>
            <a:pPr algn="r">
              <a:lnSpc>
                <a:spcPts val="1232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131A2A"/>
                </a:solidFill>
                <a:latin typeface="Inter"/>
              </a:rPr>
              <a:t>por un café</a:t>
            </a:r>
          </a:p>
        </p:txBody>
      </p:sp>
      <p:pic>
        <p:nvPicPr>
          <p:cNvPr id="19" name="Picture 18" descr="mark-grad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5536" y="4187952"/>
            <a:ext cx="146304" cy="14630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346704" y="4151376"/>
            <a:ext cx="13898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32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131A2A"/>
                </a:solidFill>
                <a:latin typeface="Inter"/>
              </a:rPr>
              <a:t>Listo, lo registré. Va en</a:t>
            </a:r>
          </a:p>
          <a:p>
            <a:pPr algn="l">
              <a:lnSpc>
                <a:spcPts val="1232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31A2A"/>
                </a:solidFill>
                <a:latin typeface="Inter"/>
              </a:rPr>
              <a:t>Comida.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46704" y="4608576"/>
            <a:ext cx="1389888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E4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3456432" y="4750308"/>
            <a:ext cx="77724" cy="77724"/>
          </a:xfrm>
          <a:prstGeom prst="roundRect">
            <a:avLst>
              <a:gd name="adj" fmla="val 23529"/>
            </a:avLst>
          </a:prstGeom>
          <a:solidFill>
            <a:srgbClr val="0B5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3584448" y="4718304"/>
            <a:ext cx="48572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31A2A"/>
                </a:solidFill>
                <a:latin typeface="Inter"/>
              </a:rPr>
              <a:t>Café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84448" y="4919472"/>
            <a:ext cx="10058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912"/>
              </a:lnSpc>
              <a:spcBef>
                <a:spcPts val="0"/>
              </a:spcBef>
              <a:spcAft>
                <a:spcPts val="0"/>
              </a:spcAft>
            </a:pPr>
            <a:r>
              <a:rPr sz="730" b="0">
                <a:solidFill>
                  <a:srgbClr val="5A6472"/>
                </a:solidFill>
                <a:latin typeface="Inter"/>
              </a:rPr>
              <a:t>Hoy · Comida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15313" y="4718304"/>
            <a:ext cx="61155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31A2A"/>
                </a:solidFill>
                <a:latin typeface="Inter"/>
              </a:rPr>
              <a:t>−$120.00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64992" y="5230368"/>
            <a:ext cx="82296" cy="82296"/>
          </a:xfrm>
          <a:prstGeom prst="roundRect">
            <a:avLst>
              <a:gd name="adj" fmla="val 22222"/>
            </a:avLst>
          </a:prstGeom>
          <a:solidFill>
            <a:srgbClr val="0E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3493008" y="5202936"/>
            <a:ext cx="10972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105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E7A55"/>
                </a:solidFill>
                <a:latin typeface="Inter"/>
              </a:rPr>
              <a:t>Guardado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45536" y="5486400"/>
            <a:ext cx="159105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32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472"/>
                </a:solidFill>
                <a:latin typeface="Inter"/>
              </a:rPr>
              <a:t>El dato vive dentro de la</a:t>
            </a:r>
          </a:p>
          <a:p>
            <a:pPr algn="l">
              <a:lnSpc>
                <a:spcPts val="1232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472"/>
                </a:solidFill>
                <a:latin typeface="Inter"/>
              </a:rPr>
              <a:t>respuesta.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138928" y="3054096"/>
            <a:ext cx="1920240" cy="2889504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4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5303520" y="3236976"/>
            <a:ext cx="159105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19">
                <a:solidFill>
                  <a:srgbClr val="5A6472"/>
                </a:solidFill>
                <a:latin typeface="Inter"/>
              </a:rPr>
              <a:t>Recibo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806440" y="3529584"/>
            <a:ext cx="585216" cy="749808"/>
          </a:xfrm>
          <a:prstGeom prst="roundRect">
            <a:avLst>
              <a:gd name="adj" fmla="val 9375"/>
            </a:avLst>
          </a:prstGeom>
          <a:solidFill>
            <a:srgbClr val="F4F5F3"/>
          </a:solidFill>
          <a:ln w="12700">
            <a:solidFill>
              <a:srgbClr val="E4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ounded Rectangle 31"/>
          <p:cNvSpPr/>
          <p:nvPr/>
        </p:nvSpPr>
        <p:spPr>
          <a:xfrm>
            <a:off x="5897880" y="3675887"/>
            <a:ext cx="365760" cy="41148"/>
          </a:xfrm>
          <a:prstGeom prst="roundRect">
            <a:avLst>
              <a:gd name="adj" fmla="val 44444"/>
            </a:avLst>
          </a:prstGeom>
          <a:solidFill>
            <a:srgbClr val="E4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5897880" y="3813048"/>
            <a:ext cx="274320" cy="41148"/>
          </a:xfrm>
          <a:prstGeom prst="roundRect">
            <a:avLst>
              <a:gd name="adj" fmla="val 44444"/>
            </a:avLst>
          </a:prstGeom>
          <a:solidFill>
            <a:srgbClr val="E4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ounded Rectangle 33"/>
          <p:cNvSpPr/>
          <p:nvPr/>
        </p:nvSpPr>
        <p:spPr>
          <a:xfrm>
            <a:off x="5897880" y="3950207"/>
            <a:ext cx="329184" cy="41148"/>
          </a:xfrm>
          <a:prstGeom prst="roundRect">
            <a:avLst>
              <a:gd name="adj" fmla="val 44444"/>
            </a:avLst>
          </a:prstGeom>
          <a:solidFill>
            <a:srgbClr val="E4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ounded Rectangle 34"/>
          <p:cNvSpPr/>
          <p:nvPr/>
        </p:nvSpPr>
        <p:spPr>
          <a:xfrm>
            <a:off x="5897880" y="4087368"/>
            <a:ext cx="201168" cy="41148"/>
          </a:xfrm>
          <a:prstGeom prst="roundRect">
            <a:avLst>
              <a:gd name="adj" fmla="val 44444"/>
            </a:avLst>
          </a:prstGeom>
          <a:solidFill>
            <a:srgbClr val="E4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5303520" y="4279392"/>
            <a:ext cx="777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105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472"/>
                </a:solidFill>
                <a:latin typeface="Inter"/>
              </a:rPr>
              <a:t>Comercio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61888" y="4279392"/>
            <a:ext cx="9326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105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31A2A"/>
                </a:solidFill>
                <a:latin typeface="Inter"/>
              </a:rPr>
              <a:t>Costco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303520" y="4498848"/>
            <a:ext cx="1591056" cy="0"/>
          </a:xfrm>
          <a:prstGeom prst="line">
            <a:avLst/>
          </a:prstGeom>
          <a:ln w="12700">
            <a:solidFill>
              <a:srgbClr val="EFF0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303520" y="4526279"/>
            <a:ext cx="777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105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472"/>
                </a:solidFill>
                <a:latin typeface="Inter"/>
              </a:rPr>
              <a:t>Total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61888" y="4526279"/>
            <a:ext cx="9326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105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31A2A"/>
                </a:solidFill>
                <a:latin typeface="Inter"/>
              </a:rPr>
              <a:t>$522.00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303520" y="4745736"/>
            <a:ext cx="1591056" cy="0"/>
          </a:xfrm>
          <a:prstGeom prst="line">
            <a:avLst/>
          </a:prstGeom>
          <a:ln w="12700">
            <a:solidFill>
              <a:srgbClr val="EFF0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303520" y="4773168"/>
            <a:ext cx="777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105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472"/>
                </a:solidFill>
                <a:latin typeface="Inter"/>
              </a:rPr>
              <a:t>Fecha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61888" y="4773168"/>
            <a:ext cx="9326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105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31A2A"/>
                </a:solidFill>
                <a:latin typeface="Inter"/>
              </a:rPr>
              <a:t>28 ago 2026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303520" y="4992624"/>
            <a:ext cx="1591056" cy="0"/>
          </a:xfrm>
          <a:prstGeom prst="line">
            <a:avLst/>
          </a:prstGeom>
          <a:ln w="12700">
            <a:solidFill>
              <a:srgbClr val="EFF0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5303520" y="5020056"/>
            <a:ext cx="777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105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472"/>
                </a:solidFill>
                <a:latin typeface="Inter"/>
              </a:rPr>
              <a:t>Categoría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61888" y="5020056"/>
            <a:ext cx="9326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105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31A2A"/>
                </a:solidFill>
                <a:latin typeface="Inter"/>
              </a:rPr>
              <a:t>Súper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5303520" y="5239512"/>
            <a:ext cx="1591056" cy="0"/>
          </a:xfrm>
          <a:prstGeom prst="line">
            <a:avLst/>
          </a:prstGeom>
          <a:ln w="12700">
            <a:solidFill>
              <a:srgbClr val="EFF0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303520" y="5266944"/>
            <a:ext cx="777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105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472"/>
                </a:solidFill>
                <a:latin typeface="Inter"/>
              </a:rPr>
              <a:t>Propina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61888" y="5266944"/>
            <a:ext cx="9326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105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472"/>
                </a:solidFill>
                <a:latin typeface="Inter"/>
              </a:rPr>
              <a:t>desconocido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03520" y="5541264"/>
            <a:ext cx="159105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32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472"/>
                </a:solidFill>
                <a:latin typeface="Inter"/>
              </a:rPr>
              <a:t>Lo ilegible se marca, no se</a:t>
            </a:r>
          </a:p>
          <a:p>
            <a:pPr algn="l">
              <a:lnSpc>
                <a:spcPts val="1232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472"/>
                </a:solidFill>
                <a:latin typeface="Inter"/>
              </a:rPr>
              <a:t>inventa.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296912" y="3054096"/>
            <a:ext cx="1920240" cy="2889504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4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7461504" y="3236976"/>
            <a:ext cx="159105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19">
                <a:solidFill>
                  <a:srgbClr val="5A6472"/>
                </a:solidFill>
                <a:latin typeface="Inter"/>
              </a:rPr>
              <a:t>Dashboard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61504" y="3547872"/>
            <a:ext cx="159105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105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472"/>
                </a:solidFill>
                <a:latin typeface="Inter"/>
              </a:rPr>
              <a:t>Balance disponible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61504" y="3749039"/>
            <a:ext cx="15910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39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31A2A"/>
                </a:solidFill>
                <a:latin typeface="Inter"/>
              </a:rPr>
              <a:t>$12,480.50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61504" y="4059935"/>
            <a:ext cx="159105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189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472"/>
                </a:solidFill>
                <a:latin typeface="Inter"/>
              </a:rPr>
              <a:t>Te alcanza hasta el 31 de</a:t>
            </a:r>
          </a:p>
          <a:p>
            <a:pPr algn="l">
              <a:lnSpc>
                <a:spcPts val="1189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472"/>
                </a:solidFill>
                <a:latin typeface="Inter"/>
              </a:rPr>
              <a:t>agosto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7461504" y="4517136"/>
            <a:ext cx="1591056" cy="0"/>
          </a:xfrm>
          <a:prstGeom prst="line">
            <a:avLst/>
          </a:prstGeom>
          <a:ln w="12700">
            <a:solidFill>
              <a:srgbClr val="EFF0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7461504" y="4626864"/>
            <a:ext cx="159105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19">
                <a:solidFill>
                  <a:srgbClr val="5A6472"/>
                </a:solidFill>
                <a:latin typeface="Inter"/>
              </a:rPr>
              <a:t>Por categoría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461504" y="4942331"/>
            <a:ext cx="73152" cy="73152"/>
          </a:xfrm>
          <a:prstGeom prst="roundRect">
            <a:avLst>
              <a:gd name="adj" fmla="val 25000"/>
            </a:avLst>
          </a:prstGeom>
          <a:solidFill>
            <a:srgbClr val="0B5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7580376" y="4901183"/>
            <a:ext cx="7315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105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131A2A"/>
                </a:solidFill>
                <a:latin typeface="Inter"/>
              </a:rPr>
              <a:t>Comida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266176" y="4951475"/>
            <a:ext cx="329184" cy="64008"/>
          </a:xfrm>
          <a:prstGeom prst="roundRect">
            <a:avLst>
              <a:gd name="adj" fmla="val 50000"/>
            </a:avLst>
          </a:prstGeom>
          <a:solidFill>
            <a:srgbClr val="F4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ounded Rectangle 60"/>
          <p:cNvSpPr/>
          <p:nvPr/>
        </p:nvSpPr>
        <p:spPr>
          <a:xfrm>
            <a:off x="8266176" y="4951475"/>
            <a:ext cx="329184" cy="64008"/>
          </a:xfrm>
          <a:prstGeom prst="roundRect">
            <a:avLst>
              <a:gd name="adj" fmla="val 50000"/>
            </a:avLst>
          </a:prstGeom>
          <a:solidFill>
            <a:srgbClr val="0B5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8631936" y="4901183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105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31A2A"/>
                </a:solidFill>
                <a:latin typeface="Inter"/>
              </a:rPr>
              <a:t>$3,240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461504" y="5289803"/>
            <a:ext cx="73152" cy="73152"/>
          </a:xfrm>
          <a:prstGeom prst="roundRect">
            <a:avLst>
              <a:gd name="adj" fmla="val 25000"/>
            </a:avLst>
          </a:prstGeom>
          <a:solidFill>
            <a:srgbClr val="9A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7580376" y="5248655"/>
            <a:ext cx="7315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105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131A2A"/>
                </a:solidFill>
                <a:latin typeface="Inter"/>
              </a:rPr>
              <a:t>Transporte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266176" y="5298947"/>
            <a:ext cx="329184" cy="64008"/>
          </a:xfrm>
          <a:prstGeom prst="roundRect">
            <a:avLst>
              <a:gd name="adj" fmla="val 50000"/>
            </a:avLst>
          </a:prstGeom>
          <a:solidFill>
            <a:srgbClr val="F4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Rounded Rectangle 65"/>
          <p:cNvSpPr/>
          <p:nvPr/>
        </p:nvSpPr>
        <p:spPr>
          <a:xfrm>
            <a:off x="8266176" y="5298947"/>
            <a:ext cx="217261" cy="64008"/>
          </a:xfrm>
          <a:prstGeom prst="roundRect">
            <a:avLst>
              <a:gd name="adj" fmla="val 50000"/>
            </a:avLst>
          </a:prstGeom>
          <a:solidFill>
            <a:srgbClr val="9A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TextBox 66"/>
          <p:cNvSpPr txBox="1"/>
          <p:nvPr/>
        </p:nvSpPr>
        <p:spPr>
          <a:xfrm>
            <a:off x="8631936" y="5248655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105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31A2A"/>
                </a:solidFill>
                <a:latin typeface="Inter"/>
              </a:rPr>
              <a:t>$2,150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461504" y="5637275"/>
            <a:ext cx="73152" cy="73152"/>
          </a:xfrm>
          <a:prstGeom prst="roundRect">
            <a:avLst>
              <a:gd name="adj" fmla="val 25000"/>
            </a:avLst>
          </a:prstGeom>
          <a:solidFill>
            <a:srgbClr val="4A2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7580376" y="5596127"/>
            <a:ext cx="7315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105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131A2A"/>
                </a:solidFill>
                <a:latin typeface="Inter"/>
              </a:rPr>
              <a:t>Hogar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266176" y="5646419"/>
            <a:ext cx="329184" cy="64008"/>
          </a:xfrm>
          <a:prstGeom prst="roundRect">
            <a:avLst>
              <a:gd name="adj" fmla="val 50000"/>
            </a:avLst>
          </a:prstGeom>
          <a:solidFill>
            <a:srgbClr val="F4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Rounded Rectangle 70"/>
          <p:cNvSpPr/>
          <p:nvPr/>
        </p:nvSpPr>
        <p:spPr>
          <a:xfrm>
            <a:off x="8266176" y="5646419"/>
            <a:ext cx="154716" cy="64008"/>
          </a:xfrm>
          <a:prstGeom prst="roundRect">
            <a:avLst>
              <a:gd name="adj" fmla="val 50000"/>
            </a:avLst>
          </a:prstGeom>
          <a:solidFill>
            <a:srgbClr val="4A2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8631936" y="5596127"/>
            <a:ext cx="4206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105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31A2A"/>
                </a:solidFill>
                <a:latin typeface="Inter"/>
              </a:rPr>
              <a:t>$1,530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454896" y="3054096"/>
            <a:ext cx="1920240" cy="2889504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4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9619488" y="3236976"/>
            <a:ext cx="159105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19">
                <a:solidFill>
                  <a:srgbClr val="5A6472"/>
                </a:solidFill>
                <a:latin typeface="Inter"/>
              </a:rPr>
              <a:t>Insights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9619488" y="3557015"/>
            <a:ext cx="82296" cy="82296"/>
          </a:xfrm>
          <a:prstGeom prst="roundRect">
            <a:avLst>
              <a:gd name="adj" fmla="val 22222"/>
            </a:avLst>
          </a:prstGeom>
          <a:solidFill>
            <a:srgbClr val="4A2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TextBox 75"/>
          <p:cNvSpPr txBox="1"/>
          <p:nvPr/>
        </p:nvSpPr>
        <p:spPr>
          <a:xfrm>
            <a:off x="9747504" y="3529584"/>
            <a:ext cx="14630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105"/>
              </a:lnSpc>
              <a:spcBef>
                <a:spcPts val="0"/>
              </a:spcBef>
              <a:spcAft>
                <a:spcPts val="0"/>
              </a:spcAft>
            </a:pPr>
            <a:r>
              <a:rPr sz="800" b="1" spc="16">
                <a:solidFill>
                  <a:srgbClr val="4A2BB5"/>
                </a:solidFill>
                <a:latin typeface="Inter"/>
              </a:rPr>
              <a:t>Insight financiero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619488" y="3803904"/>
            <a:ext cx="159105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75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131A2A"/>
                </a:solidFill>
                <a:latin typeface="Inter"/>
              </a:rPr>
              <a:t>Llevas </a:t>
            </a:r>
            <a:r>
              <a:rPr sz="850" b="1">
                <a:solidFill>
                  <a:srgbClr val="131A2A"/>
                </a:solidFill>
                <a:latin typeface="Inter"/>
              </a:rPr>
              <a:t>$1,840 </a:t>
            </a:r>
            <a:r>
              <a:rPr sz="850" b="0">
                <a:solidFill>
                  <a:srgbClr val="131A2A"/>
                </a:solidFill>
                <a:latin typeface="Inter"/>
              </a:rPr>
              <a:t>en cafés este</a:t>
            </a:r>
          </a:p>
          <a:p>
            <a:pPr algn="l">
              <a:lnSpc>
                <a:spcPts val="1275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131A2A"/>
                </a:solidFill>
                <a:latin typeface="Inter"/>
              </a:rPr>
              <a:t>mes, </a:t>
            </a:r>
            <a:r>
              <a:rPr sz="850" b="1">
                <a:solidFill>
                  <a:srgbClr val="131A2A"/>
                </a:solidFill>
                <a:latin typeface="Inter"/>
              </a:rPr>
              <a:t>23% más </a:t>
            </a:r>
            <a:r>
              <a:rPr sz="850" b="0">
                <a:solidFill>
                  <a:srgbClr val="131A2A"/>
                </a:solidFill>
                <a:latin typeface="Inter"/>
              </a:rPr>
              <a:t>que en julio.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9674352" y="4879238"/>
            <a:ext cx="205740" cy="424281"/>
          </a:xfrm>
          <a:prstGeom prst="roundRect">
            <a:avLst>
              <a:gd name="adj" fmla="val 15555"/>
            </a:avLst>
          </a:prstGeom>
          <a:solidFill>
            <a:srgbClr val="E4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TextBox 78"/>
          <p:cNvSpPr txBox="1"/>
          <p:nvPr/>
        </p:nvSpPr>
        <p:spPr>
          <a:xfrm>
            <a:off x="9617773" y="5367528"/>
            <a:ext cx="318897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A6472"/>
                </a:solidFill>
                <a:latin typeface="Inter"/>
              </a:rPr>
              <a:t>Abr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9993249" y="4798771"/>
            <a:ext cx="205740" cy="504748"/>
          </a:xfrm>
          <a:prstGeom prst="roundRect">
            <a:avLst>
              <a:gd name="adj" fmla="val 15555"/>
            </a:avLst>
          </a:prstGeom>
          <a:solidFill>
            <a:srgbClr val="E4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TextBox 80"/>
          <p:cNvSpPr txBox="1"/>
          <p:nvPr/>
        </p:nvSpPr>
        <p:spPr>
          <a:xfrm>
            <a:off x="9936670" y="5367528"/>
            <a:ext cx="318897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A6472"/>
                </a:solidFill>
                <a:latin typeface="Inter"/>
              </a:rPr>
              <a:t>May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10312146" y="4842662"/>
            <a:ext cx="205740" cy="460857"/>
          </a:xfrm>
          <a:prstGeom prst="roundRect">
            <a:avLst>
              <a:gd name="adj" fmla="val 15555"/>
            </a:avLst>
          </a:prstGeom>
          <a:solidFill>
            <a:srgbClr val="E4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TextBox 82"/>
          <p:cNvSpPr txBox="1"/>
          <p:nvPr/>
        </p:nvSpPr>
        <p:spPr>
          <a:xfrm>
            <a:off x="10255567" y="5367528"/>
            <a:ext cx="318897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A6472"/>
                </a:solidFill>
                <a:latin typeface="Inter"/>
              </a:rPr>
              <a:t>Jun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10631043" y="4718304"/>
            <a:ext cx="205740" cy="585216"/>
          </a:xfrm>
          <a:prstGeom prst="roundRect">
            <a:avLst>
              <a:gd name="adj" fmla="val 15555"/>
            </a:avLst>
          </a:prstGeom>
          <a:solidFill>
            <a:srgbClr val="E4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TextBox 84"/>
          <p:cNvSpPr txBox="1"/>
          <p:nvPr/>
        </p:nvSpPr>
        <p:spPr>
          <a:xfrm>
            <a:off x="10574464" y="5367528"/>
            <a:ext cx="318897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A6472"/>
                </a:solidFill>
                <a:latin typeface="Inter"/>
              </a:rPr>
              <a:t>Jul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10949940" y="4579315"/>
            <a:ext cx="205740" cy="724204"/>
          </a:xfrm>
          <a:prstGeom prst="roundRect">
            <a:avLst>
              <a:gd name="adj" fmla="val 15555"/>
            </a:avLst>
          </a:prstGeom>
          <a:solidFill>
            <a:srgbClr val="131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TextBox 86"/>
          <p:cNvSpPr txBox="1"/>
          <p:nvPr/>
        </p:nvSpPr>
        <p:spPr>
          <a:xfrm>
            <a:off x="10893361" y="5367528"/>
            <a:ext cx="318897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131A2A"/>
                </a:solidFill>
                <a:latin typeface="Inter"/>
              </a:rPr>
              <a:t>Ago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619488" y="5559552"/>
            <a:ext cx="159105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32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472"/>
                </a:solidFill>
                <a:latin typeface="Inter"/>
              </a:rPr>
              <a:t>Ninguna gráfica sin la frase</a:t>
            </a:r>
          </a:p>
          <a:p>
            <a:pPr algn="l">
              <a:lnSpc>
                <a:spcPts val="1232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472"/>
                </a:solidFill>
                <a:latin typeface="Inter"/>
              </a:rPr>
              <a:t>que la explica.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68680" y="6053328"/>
            <a:ext cx="10424160" cy="209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6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472"/>
                </a:solidFill>
                <a:latin typeface="Inter"/>
              </a:rPr>
              <a:t>Interfaces reconstruidas con los componentes del Suma Design System v1.0. No son capturas del producto: la aplicación está en construcción.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68680" y="530352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19">
                <a:solidFill>
                  <a:srgbClr val="131A2A"/>
                </a:solidFill>
                <a:latin typeface="Inter"/>
              </a:rPr>
              <a:t>07 </a:t>
            </a:r>
            <a:r>
              <a:rPr sz="950" b="1" spc="19">
                <a:solidFill>
                  <a:srgbClr val="5A6472"/>
                </a:solidFill>
                <a:latin typeface="Inter"/>
              </a:rPr>
              <a:t>LA IA</a:t>
            </a:r>
          </a:p>
        </p:txBody>
      </p:sp>
      <p:pic>
        <p:nvPicPr>
          <p:cNvPr id="4" name="Picture 3" descr="mark-grad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6327648"/>
            <a:ext cx="137160" cy="137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408615" y="6318504"/>
            <a:ext cx="914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105"/>
              </a:lnSpc>
              <a:spcBef>
                <a:spcPts val="0"/>
              </a:spcBef>
              <a:spcAft>
                <a:spcPts val="0"/>
              </a:spcAft>
            </a:pPr>
            <a:r>
              <a:rPr sz="850" b="1" spc="17">
                <a:solidFill>
                  <a:srgbClr val="767F8C"/>
                </a:solidFill>
                <a:latin typeface="Inter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097280"/>
            <a:ext cx="5074920" cy="1539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944"/>
              </a:lnSpc>
              <a:spcBef>
                <a:spcPts val="0"/>
              </a:spcBef>
              <a:spcAft>
                <a:spcPts val="0"/>
              </a:spcAft>
            </a:pPr>
            <a:r>
              <a:rPr sz="3400" b="1" spc="-68">
                <a:solidFill>
                  <a:srgbClr val="131A2A"/>
                </a:solidFill>
                <a:latin typeface="Inter"/>
              </a:rPr>
              <a:t>No es un chatbot.</a:t>
            </a:r>
          </a:p>
          <a:p>
            <a:pPr algn="l">
              <a:lnSpc>
                <a:spcPts val="3944"/>
              </a:lnSpc>
              <a:spcBef>
                <a:spcPts val="0"/>
              </a:spcBef>
              <a:spcAft>
                <a:spcPts val="0"/>
              </a:spcAft>
            </a:pPr>
            <a:r>
              <a:rPr sz="3400" b="1" spc="-68">
                <a:solidFill>
                  <a:srgbClr val="131A2A"/>
                </a:solidFill>
                <a:latin typeface="Inter"/>
              </a:rPr>
              <a:t>Es interpretación</a:t>
            </a:r>
          </a:p>
          <a:p>
            <a:pPr algn="l">
              <a:lnSpc>
                <a:spcPts val="3944"/>
              </a:lnSpc>
              <a:spcBef>
                <a:spcPts val="0"/>
              </a:spcBef>
              <a:spcAft>
                <a:spcPts val="0"/>
              </a:spcAft>
            </a:pPr>
            <a:r>
              <a:rPr sz="3400" b="1" spc="-68">
                <a:solidFill>
                  <a:srgbClr val="131A2A"/>
                </a:solidFill>
                <a:latin typeface="Inter"/>
              </a:rPr>
              <a:t>con reglas.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798064"/>
            <a:ext cx="5074920" cy="6271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3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472"/>
                </a:solidFill>
                <a:latin typeface="Inter"/>
              </a:rPr>
              <a:t>La salida del modelo se trata como entrada no</a:t>
            </a:r>
          </a:p>
          <a:p>
            <a:pPr algn="l">
              <a:lnSpc>
                <a:spcPts val="23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472"/>
                </a:solidFill>
                <a:latin typeface="Inter"/>
              </a:rPr>
              <a:t>confiable: se valida antes de tocar un registro.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602736"/>
            <a:ext cx="4846320" cy="2698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31A2A"/>
                </a:solidFill>
                <a:latin typeface="Inter"/>
              </a:rPr>
              <a:t>Extrae estructura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877056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95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472"/>
                </a:solidFill>
                <a:latin typeface="Inter"/>
              </a:rPr>
              <a:t>Monto, moneda, concepto, categoría y fecha, desde voz, texto o una</a:t>
            </a:r>
          </a:p>
          <a:p>
            <a:pPr algn="l">
              <a:lnSpc>
                <a:spcPts val="1595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472"/>
                </a:solidFill>
                <a:latin typeface="Inter"/>
              </a:rPr>
              <a:t>foto.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8680" y="4334256"/>
            <a:ext cx="4846320" cy="0"/>
          </a:xfrm>
          <a:prstGeom prst="line">
            <a:avLst/>
          </a:prstGeom>
          <a:ln w="12700">
            <a:solidFill>
              <a:srgbClr val="EFF0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68680" y="4462272"/>
            <a:ext cx="4846320" cy="2698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31A2A"/>
                </a:solidFill>
                <a:latin typeface="Inter"/>
              </a:rPr>
              <a:t>Resuelve el tiempo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736592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95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472"/>
                </a:solidFill>
                <a:latin typeface="Inter"/>
              </a:rPr>
              <a:t>«Ayer», «el viernes pasado», «hace dos días» → fecha exacta en tu</a:t>
            </a:r>
          </a:p>
          <a:p>
            <a:pPr algn="l">
              <a:lnSpc>
                <a:spcPts val="1595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472"/>
                </a:solidFill>
                <a:latin typeface="Inter"/>
              </a:rPr>
              <a:t>zona horaria.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8680" y="5193792"/>
            <a:ext cx="4846320" cy="0"/>
          </a:xfrm>
          <a:prstGeom prst="line">
            <a:avLst/>
          </a:prstGeom>
          <a:ln w="12700">
            <a:solidFill>
              <a:srgbClr val="EFF0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68680" y="5321808"/>
            <a:ext cx="4846320" cy="2698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31A2A"/>
                </a:solidFill>
                <a:latin typeface="Inter"/>
              </a:rPr>
              <a:t>Responde con tus datos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596128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95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472"/>
                </a:solidFill>
                <a:latin typeface="Inter"/>
              </a:rPr>
              <a:t>Usa tus ingresos, gastos recurrentes, ahorros y metas. Sin consejos</a:t>
            </a:r>
          </a:p>
          <a:p>
            <a:pPr algn="l">
              <a:lnSpc>
                <a:spcPts val="1595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472"/>
                </a:solidFill>
                <a:latin typeface="Inter"/>
              </a:rPr>
              <a:t>genéricos.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133856"/>
            <a:ext cx="5010912" cy="4828032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E4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729984" y="1554480"/>
            <a:ext cx="41696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19">
                <a:solidFill>
                  <a:srgbClr val="5A6472"/>
                </a:solidFill>
                <a:latin typeface="Inter"/>
              </a:rPr>
              <a:t>Cómo habla Suma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9984" y="1847088"/>
            <a:ext cx="416966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472"/>
                </a:solidFill>
                <a:latin typeface="Inter"/>
              </a:rPr>
              <a:t>Cada frase declara qué tipo de afirmación 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29984" y="2455164"/>
            <a:ext cx="82296" cy="82296"/>
          </a:xfrm>
          <a:prstGeom prst="roundRect">
            <a:avLst>
              <a:gd name="adj" fmla="val 22222"/>
            </a:avLst>
          </a:prstGeom>
          <a:solidFill>
            <a:srgbClr val="131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876288" y="2432304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105"/>
              </a:lnSpc>
              <a:spcBef>
                <a:spcPts val="0"/>
              </a:spcBef>
              <a:spcAft>
                <a:spcPts val="0"/>
              </a:spcAft>
            </a:pPr>
            <a:r>
              <a:rPr sz="800" b="1" spc="16">
                <a:solidFill>
                  <a:srgbClr val="131A2A"/>
                </a:solidFill>
                <a:latin typeface="Inter"/>
              </a:rPr>
              <a:t>HECHO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9984" y="2670048"/>
            <a:ext cx="4169664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31A2A"/>
                </a:solidFill>
                <a:latin typeface="Inter"/>
              </a:rPr>
              <a:t>«Gastaste $1,240 en restaurantes el mes</a:t>
            </a:r>
          </a:p>
          <a:p>
            <a:pPr algn="l"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31A2A"/>
                </a:solidFill>
                <a:latin typeface="Inter"/>
              </a:rPr>
              <a:t>pasado.»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729984" y="3218688"/>
            <a:ext cx="4169664" cy="0"/>
          </a:xfrm>
          <a:prstGeom prst="line">
            <a:avLst/>
          </a:prstGeom>
          <a:ln w="12700">
            <a:solidFill>
              <a:srgbClr val="EFF0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729984" y="3369564"/>
            <a:ext cx="82296" cy="82296"/>
          </a:xfrm>
          <a:prstGeom prst="roundRect">
            <a:avLst>
              <a:gd name="adj" fmla="val 22222"/>
            </a:avLst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876288" y="3346704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105"/>
              </a:lnSpc>
              <a:spcBef>
                <a:spcPts val="0"/>
              </a:spcBef>
              <a:spcAft>
                <a:spcPts val="0"/>
              </a:spcAft>
            </a:pPr>
            <a:r>
              <a:rPr sz="800" b="1" spc="16">
                <a:solidFill>
                  <a:srgbClr val="2A5CB8"/>
                </a:solidFill>
                <a:latin typeface="Inter"/>
              </a:rPr>
              <a:t>CÁLCULO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9984" y="3584448"/>
            <a:ext cx="4169664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31A2A"/>
                </a:solidFill>
                <a:latin typeface="Inter"/>
              </a:rPr>
              <a:t>«A tu promedio actual, podrías ahorrar</a:t>
            </a:r>
          </a:p>
          <a:p>
            <a:pPr algn="l"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31A2A"/>
                </a:solidFill>
                <a:latin typeface="Inter"/>
              </a:rPr>
              <a:t>aproximadamente $300 al mes.»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729984" y="4133088"/>
            <a:ext cx="4169664" cy="0"/>
          </a:xfrm>
          <a:prstGeom prst="line">
            <a:avLst/>
          </a:prstGeom>
          <a:ln w="12700">
            <a:solidFill>
              <a:srgbClr val="EFF0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729984" y="4283964"/>
            <a:ext cx="82296" cy="82296"/>
          </a:xfrm>
          <a:prstGeom prst="roundRect">
            <a:avLst>
              <a:gd name="adj" fmla="val 22222"/>
            </a:avLst>
          </a:prstGeom>
          <a:solidFill>
            <a:srgbClr val="4A2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876288" y="4261104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105"/>
              </a:lnSpc>
              <a:spcBef>
                <a:spcPts val="0"/>
              </a:spcBef>
              <a:spcAft>
                <a:spcPts val="0"/>
              </a:spcAft>
            </a:pPr>
            <a:r>
              <a:rPr sz="800" b="1" spc="16">
                <a:solidFill>
                  <a:srgbClr val="4A2BB5"/>
                </a:solidFill>
                <a:latin typeface="Inter"/>
              </a:rPr>
              <a:t>SUGERENCIA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9984" y="4498848"/>
            <a:ext cx="4169664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31A2A"/>
                </a:solidFill>
                <a:latin typeface="Inter"/>
              </a:rPr>
              <a:t>«Reducir restaurantes 15% liberaría</a:t>
            </a:r>
          </a:p>
          <a:p>
            <a:pPr algn="l"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31A2A"/>
                </a:solidFill>
                <a:latin typeface="Inter"/>
              </a:rPr>
              <a:t>aproximadamente $186 al mes.»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729984" y="5047488"/>
            <a:ext cx="4169664" cy="0"/>
          </a:xfrm>
          <a:prstGeom prst="line">
            <a:avLst/>
          </a:prstGeom>
          <a:ln w="12700">
            <a:solidFill>
              <a:srgbClr val="EFF0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6729984" y="5198364"/>
            <a:ext cx="82296" cy="82296"/>
          </a:xfrm>
          <a:prstGeom prst="roundRect">
            <a:avLst>
              <a:gd name="adj" fmla="val 22222"/>
            </a:avLst>
          </a:prstGeom>
          <a:solidFill>
            <a:srgbClr val="5A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876288" y="5175504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105"/>
              </a:lnSpc>
              <a:spcBef>
                <a:spcPts val="0"/>
              </a:spcBef>
              <a:spcAft>
                <a:spcPts val="0"/>
              </a:spcAft>
            </a:pPr>
            <a:r>
              <a:rPr sz="800" b="1" spc="16">
                <a:solidFill>
                  <a:srgbClr val="5A6472"/>
                </a:solidFill>
                <a:latin typeface="Inter"/>
              </a:rPr>
              <a:t>INCERTIDUMBRE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9984" y="5413248"/>
            <a:ext cx="4169664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31A2A"/>
                </a:solidFill>
                <a:latin typeface="Inter"/>
              </a:rPr>
              <a:t>«Esta estimación no incluye tu seguro anual</a:t>
            </a:r>
          </a:p>
          <a:p>
            <a:pPr algn="l"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31A2A"/>
                </a:solidFill>
                <a:latin typeface="Inter"/>
              </a:rPr>
              <a:t>porque no lo has agregado.»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68680" y="530352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19">
                <a:solidFill>
                  <a:srgbClr val="131A2A"/>
                </a:solidFill>
                <a:latin typeface="Inter"/>
              </a:rPr>
              <a:t>08 </a:t>
            </a:r>
            <a:r>
              <a:rPr sz="950" b="1" spc="19">
                <a:solidFill>
                  <a:srgbClr val="5A6472"/>
                </a:solidFill>
                <a:latin typeface="Inter"/>
              </a:rPr>
              <a:t>DE TRANSACCIONES A DECISIONES</a:t>
            </a:r>
          </a:p>
        </p:txBody>
      </p:sp>
      <p:pic>
        <p:nvPicPr>
          <p:cNvPr id="4" name="Picture 3" descr="mark-grad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6327648"/>
            <a:ext cx="137160" cy="137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408615" y="6318504"/>
            <a:ext cx="914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105"/>
              </a:lnSpc>
              <a:spcBef>
                <a:spcPts val="0"/>
              </a:spcBef>
              <a:spcAft>
                <a:spcPts val="0"/>
              </a:spcAft>
            </a:pPr>
            <a:r>
              <a:rPr sz="850" b="1" spc="17">
                <a:solidFill>
                  <a:srgbClr val="767F8C"/>
                </a:solidFill>
                <a:latin typeface="Inter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133856"/>
            <a:ext cx="7315200" cy="10383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944"/>
              </a:lnSpc>
              <a:spcBef>
                <a:spcPts val="0"/>
              </a:spcBef>
              <a:spcAft>
                <a:spcPts val="0"/>
              </a:spcAft>
            </a:pPr>
            <a:r>
              <a:rPr sz="3400" b="1" spc="-68">
                <a:solidFill>
                  <a:srgbClr val="131A2A"/>
                </a:solidFill>
                <a:latin typeface="Inter"/>
              </a:rPr>
              <a:t>De un dato suelto</a:t>
            </a:r>
          </a:p>
          <a:p>
            <a:pPr algn="l">
              <a:lnSpc>
                <a:spcPts val="3944"/>
              </a:lnSpc>
              <a:spcBef>
                <a:spcPts val="0"/>
              </a:spcBef>
              <a:spcAft>
                <a:spcPts val="0"/>
              </a:spcAft>
            </a:pPr>
            <a:r>
              <a:rPr sz="3400" b="1" spc="-68">
                <a:solidFill>
                  <a:srgbClr val="131A2A"/>
                </a:solidFill>
                <a:latin typeface="Inter"/>
              </a:rPr>
              <a:t>a una decisión.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87168"/>
            <a:ext cx="8046720" cy="590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3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472"/>
                </a:solidFill>
                <a:latin typeface="Inter"/>
              </a:rPr>
              <a:t>Cada gasto guardado alimenta el historial, las métricas, el chat y los insights en el</a:t>
            </a:r>
          </a:p>
          <a:p>
            <a:pPr algn="l">
              <a:lnSpc>
                <a:spcPts val="23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472"/>
                </a:solidFill>
                <a:latin typeface="Inter"/>
              </a:rPr>
              <a:t>mismo momento.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3163824"/>
            <a:ext cx="2432304" cy="2651760"/>
          </a:xfrm>
          <a:prstGeom prst="roundRect">
            <a:avLst>
              <a:gd name="adj" fmla="val 6015"/>
            </a:avLst>
          </a:prstGeom>
          <a:solidFill>
            <a:srgbClr val="FFFFFF"/>
          </a:solidFill>
          <a:ln w="12700">
            <a:solidFill>
              <a:srgbClr val="E4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124712" y="3419856"/>
            <a:ext cx="1920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19">
                <a:solidFill>
                  <a:srgbClr val="767F8C"/>
                </a:solidFill>
                <a:latin typeface="Inter"/>
              </a:rPr>
              <a:t>Transacción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" y="3675887"/>
            <a:ext cx="4572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105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767F8C"/>
                </a:solidFill>
                <a:latin typeface="Inter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00984" y="4361688"/>
            <a:ext cx="2560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767F8C"/>
                </a:solidFill>
                <a:latin typeface="Inter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57016" y="3163824"/>
            <a:ext cx="2432304" cy="2651760"/>
          </a:xfrm>
          <a:prstGeom prst="roundRect">
            <a:avLst>
              <a:gd name="adj" fmla="val 6015"/>
            </a:avLst>
          </a:prstGeom>
          <a:solidFill>
            <a:srgbClr val="FFFFFF"/>
          </a:solidFill>
          <a:ln w="12700">
            <a:solidFill>
              <a:srgbClr val="E4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813048" y="3419856"/>
            <a:ext cx="1920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19">
                <a:solidFill>
                  <a:srgbClr val="767F8C"/>
                </a:solidFill>
                <a:latin typeface="Inter"/>
              </a:rPr>
              <a:t>Patrón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13048" y="3675887"/>
            <a:ext cx="4572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105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767F8C"/>
                </a:solidFill>
                <a:latin typeface="Inter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4361688"/>
            <a:ext cx="2560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767F8C"/>
                </a:solidFill>
                <a:latin typeface="Inter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5352" y="3163824"/>
            <a:ext cx="2432304" cy="2651760"/>
          </a:xfrm>
          <a:prstGeom prst="roundRect">
            <a:avLst>
              <a:gd name="adj" fmla="val 6015"/>
            </a:avLst>
          </a:prstGeom>
          <a:solidFill>
            <a:srgbClr val="FFFFFF"/>
          </a:solidFill>
          <a:ln w="12700">
            <a:solidFill>
              <a:srgbClr val="E4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501384" y="3419856"/>
            <a:ext cx="1920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19">
                <a:solidFill>
                  <a:srgbClr val="767F8C"/>
                </a:solidFill>
                <a:latin typeface="Inter"/>
              </a:rPr>
              <a:t>Insight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1384" y="3675887"/>
            <a:ext cx="4572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105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767F8C"/>
                </a:solidFill>
                <a:latin typeface="Inter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77656" y="4361688"/>
            <a:ext cx="2560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767F8C"/>
                </a:solidFill>
                <a:latin typeface="Inter"/>
              </a:rPr>
              <a:t>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33688" y="3163824"/>
            <a:ext cx="2432304" cy="2651760"/>
          </a:xfrm>
          <a:prstGeom prst="roundRect">
            <a:avLst>
              <a:gd name="adj" fmla="val 6015"/>
            </a:avLst>
          </a:prstGeom>
          <a:solidFill>
            <a:srgbClr val="131A2A"/>
          </a:solidFill>
          <a:ln w="12700">
            <a:solidFill>
              <a:srgbClr val="131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189719" y="3419856"/>
            <a:ext cx="1920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19">
                <a:solidFill>
                  <a:srgbClr val="B7BDC6"/>
                </a:solidFill>
                <a:latin typeface="Inter"/>
              </a:rPr>
              <a:t>Decisión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24712" y="4041648"/>
            <a:ext cx="192024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E4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1234440" y="4183380"/>
            <a:ext cx="77724" cy="77724"/>
          </a:xfrm>
          <a:prstGeom prst="roundRect">
            <a:avLst>
              <a:gd name="adj" fmla="val 23529"/>
            </a:avLst>
          </a:prstGeom>
          <a:solidFill>
            <a:srgbClr val="0B5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362456" y="4151376"/>
            <a:ext cx="78272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31A2A"/>
                </a:solidFill>
                <a:latin typeface="Inter"/>
              </a:rPr>
              <a:t>Café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62456" y="4352544"/>
            <a:ext cx="15361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25"/>
              </a:lnSpc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5A6472"/>
                </a:solidFill>
                <a:latin typeface="Inter"/>
              </a:rPr>
              <a:t>Hoy · 14:32 · Comida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90318" y="4151376"/>
            <a:ext cx="84490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31A2A"/>
                </a:solidFill>
                <a:latin typeface="Inter"/>
              </a:rPr>
              <a:t>−$120.00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" y="4754880"/>
            <a:ext cx="1920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472"/>
                </a:solidFill>
                <a:latin typeface="Inter"/>
              </a:rPr>
              <a:t>Un gasto registrado por</a:t>
            </a:r>
          </a:p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472"/>
                </a:solidFill>
                <a:latin typeface="Inter"/>
              </a:rPr>
              <a:t>voz, texto o recibo, ya</a:t>
            </a:r>
          </a:p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472"/>
                </a:solidFill>
                <a:latin typeface="Inter"/>
              </a:rPr>
              <a:t>validado.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867912" y="4371929"/>
            <a:ext cx="251459" cy="456102"/>
          </a:xfrm>
          <a:prstGeom prst="roundRect">
            <a:avLst>
              <a:gd name="adj" fmla="val 12727"/>
            </a:avLst>
          </a:prstGeom>
          <a:solidFill>
            <a:srgbClr val="E4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3798760" y="4892040"/>
            <a:ext cx="389762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A6472"/>
                </a:solidFill>
                <a:latin typeface="Inter"/>
              </a:rPr>
              <a:t>Abr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57675" y="4285427"/>
            <a:ext cx="251459" cy="542604"/>
          </a:xfrm>
          <a:prstGeom prst="roundRect">
            <a:avLst>
              <a:gd name="adj" fmla="val 12727"/>
            </a:avLst>
          </a:prstGeom>
          <a:solidFill>
            <a:srgbClr val="E4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4188523" y="4892040"/>
            <a:ext cx="389762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A6472"/>
                </a:solidFill>
                <a:latin typeface="Inter"/>
              </a:rPr>
              <a:t>May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647438" y="4332610"/>
            <a:ext cx="251459" cy="495421"/>
          </a:xfrm>
          <a:prstGeom prst="roundRect">
            <a:avLst>
              <a:gd name="adj" fmla="val 12727"/>
            </a:avLst>
          </a:prstGeom>
          <a:solidFill>
            <a:srgbClr val="E4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4578286" y="4892040"/>
            <a:ext cx="389762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A6472"/>
                </a:solidFill>
                <a:latin typeface="Inter"/>
              </a:rPr>
              <a:t>Jun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37201" y="4198924"/>
            <a:ext cx="251459" cy="629107"/>
          </a:xfrm>
          <a:prstGeom prst="roundRect">
            <a:avLst>
              <a:gd name="adj" fmla="val 12727"/>
            </a:avLst>
          </a:prstGeom>
          <a:solidFill>
            <a:srgbClr val="E4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4968049" y="4892040"/>
            <a:ext cx="389762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A6472"/>
                </a:solidFill>
                <a:latin typeface="Inter"/>
              </a:rPr>
              <a:t>Jul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26964" y="4049511"/>
            <a:ext cx="251459" cy="778520"/>
          </a:xfrm>
          <a:prstGeom prst="roundRect">
            <a:avLst>
              <a:gd name="adj" fmla="val 12727"/>
            </a:avLst>
          </a:prstGeom>
          <a:solidFill>
            <a:srgbClr val="131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5357812" y="4892040"/>
            <a:ext cx="389762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131A2A"/>
                </a:solidFill>
                <a:latin typeface="Inter"/>
              </a:rPr>
              <a:t>Ago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13048" y="5120640"/>
            <a:ext cx="19202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472"/>
                </a:solidFill>
                <a:latin typeface="Inter"/>
              </a:rPr>
              <a:t>La misma categoría a lo</a:t>
            </a:r>
          </a:p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472"/>
                </a:solidFill>
                <a:latin typeface="Inter"/>
              </a:rPr>
              <a:t>largo de cinco meses.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01384" y="4041648"/>
            <a:ext cx="1920240" cy="11338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31A2A"/>
                </a:solidFill>
                <a:latin typeface="Inter"/>
              </a:rPr>
              <a:t>Llevas </a:t>
            </a:r>
            <a:r>
              <a:rPr sz="1500" b="1">
                <a:solidFill>
                  <a:srgbClr val="131A2A"/>
                </a:solidFill>
                <a:latin typeface="Inter"/>
              </a:rPr>
              <a:t>$1,840 </a:t>
            </a:r>
            <a:r>
              <a:rPr sz="1500" b="0">
                <a:solidFill>
                  <a:srgbClr val="131A2A"/>
                </a:solidFill>
                <a:latin typeface="Inter"/>
              </a:rPr>
              <a:t>en</a:t>
            </a:r>
          </a:p>
          <a:p>
            <a:pPr algn="l"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31A2A"/>
                </a:solidFill>
                <a:latin typeface="Inter"/>
              </a:rPr>
              <a:t>cafés este mes,</a:t>
            </a:r>
          </a:p>
          <a:p>
            <a:pPr algn="l"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31A2A"/>
                </a:solidFill>
                <a:latin typeface="Inter"/>
              </a:rPr>
              <a:t>23% más </a:t>
            </a:r>
            <a:r>
              <a:rPr sz="1500" b="0">
                <a:solidFill>
                  <a:srgbClr val="131A2A"/>
                </a:solidFill>
                <a:latin typeface="Inter"/>
              </a:rPr>
              <a:t>que en</a:t>
            </a:r>
          </a:p>
          <a:p>
            <a:pPr algn="l"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31A2A"/>
                </a:solidFill>
                <a:latin typeface="Inter"/>
              </a:rPr>
              <a:t>julio.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01384" y="5230368"/>
            <a:ext cx="192024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472"/>
                </a:solidFill>
                <a:latin typeface="Inter"/>
              </a:rPr>
              <a:t>Específico, con dato detrás</a:t>
            </a:r>
          </a:p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472"/>
                </a:solidFill>
                <a:latin typeface="Inter"/>
              </a:rPr>
              <a:t>y sin juicio.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89719" y="3950208"/>
            <a:ext cx="1920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Inter"/>
              </a:rPr>
              <a:t>Si mueves </a:t>
            </a:r>
            <a:r>
              <a:rPr sz="1500" b="1">
                <a:solidFill>
                  <a:srgbClr val="FFFFFF"/>
                </a:solidFill>
                <a:latin typeface="Inter"/>
              </a:rPr>
              <a:t>$500 </a:t>
            </a:r>
            <a:r>
              <a:rPr sz="1500" b="0">
                <a:solidFill>
                  <a:srgbClr val="FFFFFF"/>
                </a:solidFill>
                <a:latin typeface="Inter"/>
              </a:rPr>
              <a:t>a</a:t>
            </a:r>
          </a:p>
          <a:p>
            <a:pPr algn="l"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Inter"/>
              </a:rPr>
              <a:t>tu meta de viaje, la</a:t>
            </a:r>
          </a:p>
          <a:p>
            <a:pPr algn="l"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Inter"/>
              </a:rPr>
              <a:t>alcanzas </a:t>
            </a:r>
            <a:r>
              <a:rPr sz="1500" b="1">
                <a:solidFill>
                  <a:srgbClr val="FFFFFF"/>
                </a:solidFill>
                <a:latin typeface="Inter"/>
              </a:rPr>
              <a:t>dos</a:t>
            </a:r>
          </a:p>
          <a:p>
            <a:pPr algn="l"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Inter"/>
              </a:rPr>
              <a:t>semanas antes</a:t>
            </a:r>
            <a:r>
              <a:rPr sz="1500" b="0">
                <a:solidFill>
                  <a:srgbClr val="FFFFFF"/>
                </a:solidFill>
                <a:latin typeface="Inter"/>
              </a:rPr>
              <a:t>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189719" y="5120640"/>
            <a:ext cx="1060704" cy="384048"/>
          </a:xfrm>
          <a:prstGeom prst="roundRect">
            <a:avLst>
              <a:gd name="adj" fmla="val 2619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9189719" y="5212080"/>
            <a:ext cx="106070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ts val="1105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31A2A"/>
                </a:solidFill>
                <a:latin typeface="Inter"/>
              </a:rPr>
              <a:t>Mover $500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23576" y="5212080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ts val="1105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B7BDC6"/>
                </a:solidFill>
                <a:latin typeface="Inter"/>
              </a:rPr>
              <a:t>Ahora no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" y="5980176"/>
            <a:ext cx="10424160" cy="209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6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472"/>
                </a:solidFill>
                <a:latin typeface="Inter"/>
              </a:rPr>
              <a:t>Toda cifra va acompañada de la frase que la explica: nunca una gráfica sin conclusión, nunca una recomendación sin el dato que la sostiene.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68680" y="530352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19">
                <a:solidFill>
                  <a:srgbClr val="131A2A"/>
                </a:solidFill>
                <a:latin typeface="Inter"/>
              </a:rPr>
              <a:t>09 </a:t>
            </a:r>
            <a:r>
              <a:rPr sz="950" b="1" spc="19">
                <a:solidFill>
                  <a:srgbClr val="5A6472"/>
                </a:solidFill>
                <a:latin typeface="Inter"/>
              </a:rPr>
              <a:t>CONFIANZA</a:t>
            </a:r>
          </a:p>
        </p:txBody>
      </p:sp>
      <p:pic>
        <p:nvPicPr>
          <p:cNvPr id="4" name="Picture 3" descr="mark-grad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6327648"/>
            <a:ext cx="137160" cy="137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408615" y="6318504"/>
            <a:ext cx="914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105"/>
              </a:lnSpc>
              <a:spcBef>
                <a:spcPts val="0"/>
              </a:spcBef>
              <a:spcAft>
                <a:spcPts val="0"/>
              </a:spcAft>
            </a:pPr>
            <a:r>
              <a:rPr sz="850" b="1" spc="17">
                <a:solidFill>
                  <a:srgbClr val="767F8C"/>
                </a:solidFill>
                <a:latin typeface="Inter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133856"/>
            <a:ext cx="5486400" cy="10383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944"/>
              </a:lnSpc>
              <a:spcBef>
                <a:spcPts val="0"/>
              </a:spcBef>
              <a:spcAft>
                <a:spcPts val="0"/>
              </a:spcAft>
            </a:pPr>
            <a:r>
              <a:rPr sz="3400" b="1" spc="-68">
                <a:solidFill>
                  <a:srgbClr val="131A2A"/>
                </a:solidFill>
                <a:latin typeface="Inter"/>
              </a:rPr>
              <a:t>La IA interpreta.</a:t>
            </a:r>
          </a:p>
          <a:p>
            <a:pPr algn="l">
              <a:lnSpc>
                <a:spcPts val="3944"/>
              </a:lnSpc>
              <a:spcBef>
                <a:spcPts val="0"/>
              </a:spcBef>
              <a:spcAft>
                <a:spcPts val="0"/>
              </a:spcAft>
            </a:pPr>
            <a:r>
              <a:rPr sz="3400" b="1" spc="-68">
                <a:solidFill>
                  <a:srgbClr val="131A2A"/>
                </a:solidFill>
                <a:latin typeface="Inter"/>
              </a:rPr>
              <a:t>Tú decides.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15184"/>
            <a:ext cx="5120640" cy="6271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3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472"/>
                </a:solidFill>
                <a:latin typeface="Inter"/>
              </a:rPr>
              <a:t>Suma ayuda con la interpretación; no toma en</a:t>
            </a:r>
          </a:p>
          <a:p>
            <a:pPr algn="l">
              <a:lnSpc>
                <a:spcPts val="23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472"/>
                </a:solidFill>
                <a:latin typeface="Inter"/>
              </a:rPr>
              <a:t>silencio decisiones financieras inciertas.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3401568"/>
            <a:ext cx="4206240" cy="2505456"/>
          </a:xfrm>
          <a:prstGeom prst="roundRect">
            <a:avLst>
              <a:gd name="adj" fmla="val 5839"/>
            </a:avLst>
          </a:prstGeom>
          <a:solidFill>
            <a:srgbClr val="FFFFFF"/>
          </a:solidFill>
          <a:ln w="12700">
            <a:solidFill>
              <a:srgbClr val="E4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179576" y="3694176"/>
            <a:ext cx="3584447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19">
                <a:solidFill>
                  <a:srgbClr val="5A6472"/>
                </a:solidFill>
                <a:latin typeface="Inter"/>
              </a:rPr>
              <a:t>Suma entendió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9576" y="3968496"/>
            <a:ext cx="3584447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spc="-60">
                <a:solidFill>
                  <a:srgbClr val="131A2A"/>
                </a:solidFill>
                <a:latin typeface="Inter"/>
              </a:rPr>
              <a:t>$180.00 </a:t>
            </a:r>
            <a:r>
              <a:rPr sz="3000" b="1" spc="-60">
                <a:solidFill>
                  <a:srgbClr val="767F8C"/>
                </a:solidFill>
                <a:latin typeface="Inter"/>
              </a:rPr>
              <a:t>MXN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9576" y="4535424"/>
            <a:ext cx="11887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105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472"/>
                </a:solidFill>
                <a:latin typeface="Inter"/>
              </a:rPr>
              <a:t>Concepto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4535424"/>
            <a:ext cx="243230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105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31A2A"/>
                </a:solidFill>
                <a:latin typeface="Inter"/>
              </a:rPr>
              <a:t>Costco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9576" y="4809744"/>
            <a:ext cx="11887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105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472"/>
                </a:solidFill>
                <a:latin typeface="Inter"/>
              </a:rPr>
              <a:t>Categoría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4809744"/>
            <a:ext cx="243230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105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31A2A"/>
                </a:solidFill>
                <a:latin typeface="Inter"/>
              </a:rPr>
              <a:t>Súper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9576" y="5084064"/>
            <a:ext cx="11887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105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472"/>
                </a:solidFill>
                <a:latin typeface="Inter"/>
              </a:rPr>
              <a:t>Fecha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5084064"/>
            <a:ext cx="243230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105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31A2A"/>
                </a:solidFill>
                <a:latin typeface="Inter"/>
              </a:rPr>
              <a:t>28 ago 2026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79576" y="5431536"/>
            <a:ext cx="1133856" cy="384048"/>
          </a:xfrm>
          <a:prstGeom prst="roundRect">
            <a:avLst>
              <a:gd name="adj" fmla="val 26190"/>
            </a:avLst>
          </a:prstGeom>
          <a:solidFill>
            <a:srgbClr val="F1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179576" y="5522976"/>
            <a:ext cx="113385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ts val="1105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31A2A"/>
                </a:solidFill>
                <a:latin typeface="Inter"/>
              </a:rPr>
              <a:t>Editar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404872" y="5431536"/>
            <a:ext cx="1133856" cy="384048"/>
          </a:xfrm>
          <a:prstGeom prst="roundRect">
            <a:avLst>
              <a:gd name="adj" fmla="val 26190"/>
            </a:avLst>
          </a:prstGeom>
          <a:solidFill>
            <a:srgbClr val="131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2404872" y="5522976"/>
            <a:ext cx="113385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ts val="1105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Inter"/>
              </a:rPr>
              <a:t>Guardar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6071616"/>
            <a:ext cx="4206240" cy="209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6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472"/>
                </a:solidFill>
                <a:latin typeface="Inter"/>
              </a:rPr>
              <a:t>Con confianza baja Suma no afirma: «Creo que esto es… ¿es correcto?».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1152144"/>
            <a:ext cx="38404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105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767F8C"/>
                </a:solidFill>
                <a:latin typeface="Inter"/>
              </a:rPr>
              <a:t>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9984" y="1115568"/>
            <a:ext cx="4590288" cy="2698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31A2A"/>
                </a:solidFill>
                <a:latin typeface="Inter"/>
              </a:rPr>
              <a:t>Muestra lo que entendió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9984" y="1408176"/>
            <a:ext cx="459028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95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472"/>
                </a:solidFill>
                <a:latin typeface="Inter"/>
              </a:rPr>
              <a:t>Cada campo extraído es visible antes de guardar.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309360" y="1847088"/>
            <a:ext cx="5010912" cy="0"/>
          </a:xfrm>
          <a:prstGeom prst="line">
            <a:avLst/>
          </a:prstGeom>
          <a:ln w="12700">
            <a:solidFill>
              <a:srgbClr val="EFF0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309360" y="2011680"/>
            <a:ext cx="38404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105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767F8C"/>
                </a:solidFill>
                <a:latin typeface="Inter"/>
              </a:rP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9984" y="1975104"/>
            <a:ext cx="4590288" cy="2698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31A2A"/>
                </a:solidFill>
                <a:latin typeface="Inter"/>
              </a:rPr>
              <a:t>Permite corregir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9984" y="2267712"/>
            <a:ext cx="459028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95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472"/>
                </a:solidFill>
                <a:latin typeface="Inter"/>
              </a:rPr>
              <a:t>Todo campo es editable. Un error nunca borra lo que dijiste.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309360" y="2706624"/>
            <a:ext cx="5010912" cy="0"/>
          </a:xfrm>
          <a:prstGeom prst="line">
            <a:avLst/>
          </a:prstGeom>
          <a:ln w="12700">
            <a:solidFill>
              <a:srgbClr val="EFF0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309360" y="2871215"/>
            <a:ext cx="38404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105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767F8C"/>
                </a:solidFill>
                <a:latin typeface="Inter"/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9984" y="2834639"/>
            <a:ext cx="4590288" cy="2698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31A2A"/>
                </a:solidFill>
                <a:latin typeface="Inter"/>
              </a:rPr>
              <a:t>Pregunta en vez de adivinar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9984" y="3127248"/>
            <a:ext cx="459028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95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472"/>
                </a:solidFill>
                <a:latin typeface="Inter"/>
              </a:rPr>
              <a:t>Si la categoría es ambigua, Suma pregunta en lugar de elegir.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309360" y="3566159"/>
            <a:ext cx="5010912" cy="0"/>
          </a:xfrm>
          <a:prstGeom prst="line">
            <a:avLst/>
          </a:prstGeom>
          <a:ln w="12700">
            <a:solidFill>
              <a:srgbClr val="EFF0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309360" y="3730752"/>
            <a:ext cx="38404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105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767F8C"/>
                </a:solidFill>
                <a:latin typeface="Inter"/>
              </a:rPr>
              <a:t>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4" y="3694176"/>
            <a:ext cx="4590288" cy="2698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31A2A"/>
                </a:solidFill>
                <a:latin typeface="Inter"/>
              </a:rPr>
              <a:t>No inventa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9984" y="3986784"/>
            <a:ext cx="4590288" cy="4051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95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472"/>
                </a:solidFill>
                <a:latin typeface="Inter"/>
              </a:rPr>
              <a:t>Un campo que no se pudo extraer se muestra como</a:t>
            </a:r>
          </a:p>
          <a:p>
            <a:pPr algn="l">
              <a:lnSpc>
                <a:spcPts val="1595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472"/>
                </a:solidFill>
                <a:latin typeface="Inter"/>
              </a:rPr>
              <a:t>desconocido.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309360" y="4425696"/>
            <a:ext cx="5010912" cy="0"/>
          </a:xfrm>
          <a:prstGeom prst="line">
            <a:avLst/>
          </a:prstGeom>
          <a:ln w="12700">
            <a:solidFill>
              <a:srgbClr val="EFF0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309360" y="4590288"/>
            <a:ext cx="38404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105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767F8C"/>
                </a:solidFill>
                <a:latin typeface="Inter"/>
              </a:rPr>
              <a:t>05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29984" y="4553712"/>
            <a:ext cx="4590288" cy="2698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31A2A"/>
                </a:solidFill>
                <a:latin typeface="Inter"/>
              </a:rPr>
              <a:t>Nada se guarda sin validar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9984" y="4846320"/>
            <a:ext cx="4590288" cy="4051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95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472"/>
                </a:solidFill>
                <a:latin typeface="Inter"/>
              </a:rPr>
              <a:t>Estructura, montos, fechas y categorías se validan antes de</a:t>
            </a:r>
          </a:p>
          <a:p>
            <a:pPr algn="l">
              <a:lnSpc>
                <a:spcPts val="1595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472"/>
                </a:solidFill>
                <a:latin typeface="Inter"/>
              </a:rPr>
              <a:t>persistir.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309360" y="5413248"/>
            <a:ext cx="5010912" cy="786384"/>
          </a:xfrm>
          <a:prstGeom prst="roundRect">
            <a:avLst>
              <a:gd name="adj" fmla="val 18604"/>
            </a:avLst>
          </a:prstGeom>
          <a:solidFill>
            <a:srgbClr val="F1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583680" y="5577840"/>
            <a:ext cx="4462272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31A2A"/>
                </a:solidFill>
                <a:latin typeface="Inter"/>
              </a:rPr>
              <a:t>Nunca crear ni modificar en silencio un registro</a:t>
            </a:r>
          </a:p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31A2A"/>
                </a:solidFill>
                <a:latin typeface="Inter"/>
              </a:rPr>
              <a:t>financiero cuando la IA no está segura.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68680" y="530352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19">
                <a:solidFill>
                  <a:srgbClr val="131A2A"/>
                </a:solidFill>
                <a:latin typeface="Inter"/>
              </a:rPr>
              <a:t>10 </a:t>
            </a:r>
            <a:r>
              <a:rPr sz="950" b="1" spc="19">
                <a:solidFill>
                  <a:srgbClr val="5A6472"/>
                </a:solidFill>
                <a:latin typeface="Inter"/>
              </a:rPr>
              <a:t>MVP</a:t>
            </a:r>
          </a:p>
        </p:txBody>
      </p:sp>
      <p:pic>
        <p:nvPicPr>
          <p:cNvPr id="4" name="Picture 3" descr="mark-grad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6327648"/>
            <a:ext cx="137160" cy="137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408615" y="6318504"/>
            <a:ext cx="914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105"/>
              </a:lnSpc>
              <a:spcBef>
                <a:spcPts val="0"/>
              </a:spcBef>
              <a:spcAft>
                <a:spcPts val="0"/>
              </a:spcAft>
            </a:pPr>
            <a:r>
              <a:rPr sz="850" b="1" spc="17">
                <a:solidFill>
                  <a:srgbClr val="767F8C"/>
                </a:solidFill>
                <a:latin typeface="Inter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133856"/>
            <a:ext cx="8595360" cy="10383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944"/>
              </a:lnSpc>
              <a:spcBef>
                <a:spcPts val="0"/>
              </a:spcBef>
              <a:spcAft>
                <a:spcPts val="0"/>
              </a:spcAft>
            </a:pPr>
            <a:r>
              <a:rPr sz="3400" b="1" spc="-68">
                <a:solidFill>
                  <a:srgbClr val="131A2A"/>
                </a:solidFill>
                <a:latin typeface="Inter"/>
              </a:rPr>
              <a:t>El MVP es un corte vertical,</a:t>
            </a:r>
          </a:p>
          <a:p>
            <a:pPr algn="l">
              <a:lnSpc>
                <a:spcPts val="3944"/>
              </a:lnSpc>
              <a:spcBef>
                <a:spcPts val="0"/>
              </a:spcBef>
              <a:spcAft>
                <a:spcPts val="0"/>
              </a:spcAft>
            </a:pPr>
            <a:r>
              <a:rPr sz="3400" b="1" spc="-68">
                <a:solidFill>
                  <a:srgbClr val="131A2A"/>
                </a:solidFill>
                <a:latin typeface="Inter"/>
              </a:rPr>
              <a:t>no una demo.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87168"/>
            <a:ext cx="8046720" cy="3318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3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472"/>
                </a:solidFill>
                <a:latin typeface="Inter"/>
              </a:rPr>
              <a:t>Alcance P0: de la captura al insight, completo y accesible. Todo lo demás espera.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3054096"/>
            <a:ext cx="3346704" cy="2816352"/>
          </a:xfrm>
          <a:prstGeom prst="roundRect">
            <a:avLst>
              <a:gd name="adj" fmla="val 5194"/>
            </a:avLst>
          </a:prstGeom>
          <a:solidFill>
            <a:srgbClr val="FFFFFF"/>
          </a:solidFill>
          <a:ln w="12700">
            <a:solidFill>
              <a:srgbClr val="E4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179576" y="3328415"/>
            <a:ext cx="27249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31A2A"/>
                </a:solidFill>
                <a:latin typeface="Inter"/>
              </a:rPr>
              <a:t>Registro de gastos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79576" y="3730752"/>
            <a:ext cx="2724912" cy="0"/>
          </a:xfrm>
          <a:prstGeom prst="line">
            <a:avLst/>
          </a:prstGeom>
          <a:ln w="12700">
            <a:solidFill>
              <a:srgbClr val="EFF0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179576" y="3909059"/>
            <a:ext cx="68580" cy="68580"/>
          </a:xfrm>
          <a:prstGeom prst="roundRect">
            <a:avLst>
              <a:gd name="adj" fmla="val 26666"/>
            </a:avLst>
          </a:prstGeom>
          <a:solidFill>
            <a:srgbClr val="0E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44168" y="3840480"/>
            <a:ext cx="2560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8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31A2A"/>
                </a:solidFill>
                <a:latin typeface="Inter"/>
              </a:rPr>
              <a:t>Entrada por voz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79576" y="4129430"/>
            <a:ext cx="68580" cy="68580"/>
          </a:xfrm>
          <a:prstGeom prst="roundRect">
            <a:avLst>
              <a:gd name="adj" fmla="val 26666"/>
            </a:avLst>
          </a:prstGeom>
          <a:solidFill>
            <a:srgbClr val="0E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344168" y="4060850"/>
            <a:ext cx="2560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8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31A2A"/>
                </a:solidFill>
                <a:latin typeface="Inter"/>
              </a:rPr>
              <a:t>Entrada por texto y chat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79576" y="4349800"/>
            <a:ext cx="68580" cy="68580"/>
          </a:xfrm>
          <a:prstGeom prst="roundRect">
            <a:avLst>
              <a:gd name="adj" fmla="val 26666"/>
            </a:avLst>
          </a:prstGeom>
          <a:solidFill>
            <a:srgbClr val="0E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344168" y="4281220"/>
            <a:ext cx="2560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8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31A2A"/>
                </a:solidFill>
                <a:latin typeface="Inter"/>
              </a:rPr>
              <a:t>Foto de recibo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79576" y="4570171"/>
            <a:ext cx="68580" cy="68580"/>
          </a:xfrm>
          <a:prstGeom prst="roundRect">
            <a:avLst>
              <a:gd name="adj" fmla="val 26666"/>
            </a:avLst>
          </a:prstGeom>
          <a:solidFill>
            <a:srgbClr val="0E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344168" y="4501591"/>
            <a:ext cx="2560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8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31A2A"/>
                </a:solidFill>
                <a:latin typeface="Inter"/>
              </a:rPr>
              <a:t>Extracción con IA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79576" y="4790541"/>
            <a:ext cx="68580" cy="68580"/>
          </a:xfrm>
          <a:prstGeom prst="roundRect">
            <a:avLst>
              <a:gd name="adj" fmla="val 26666"/>
            </a:avLst>
          </a:prstGeom>
          <a:solidFill>
            <a:srgbClr val="0E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344168" y="4721961"/>
            <a:ext cx="256032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8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31A2A"/>
                </a:solidFill>
                <a:latin typeface="Inter"/>
              </a:rPr>
              <a:t>Monto, moneda, concepto,</a:t>
            </a:r>
          </a:p>
          <a:p>
            <a:pPr algn="l">
              <a:lnSpc>
                <a:spcPts val="1518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31A2A"/>
                </a:solidFill>
                <a:latin typeface="Inter"/>
              </a:rPr>
              <a:t>categoría y fecha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79576" y="5199278"/>
            <a:ext cx="68580" cy="68580"/>
          </a:xfrm>
          <a:prstGeom prst="roundRect">
            <a:avLst>
              <a:gd name="adj" fmla="val 26666"/>
            </a:avLst>
          </a:prstGeom>
          <a:solidFill>
            <a:srgbClr val="0E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344168" y="5130698"/>
            <a:ext cx="2560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8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31A2A"/>
                </a:solidFill>
                <a:latin typeface="Inter"/>
              </a:rPr>
              <a:t>Fechas relativas resueltas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79576" y="5419648"/>
            <a:ext cx="68580" cy="68580"/>
          </a:xfrm>
          <a:prstGeom prst="roundRect">
            <a:avLst>
              <a:gd name="adj" fmla="val 26666"/>
            </a:avLst>
          </a:prstGeom>
          <a:solidFill>
            <a:srgbClr val="0E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344168" y="5351068"/>
            <a:ext cx="2560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8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31A2A"/>
                </a:solidFill>
                <a:latin typeface="Inter"/>
              </a:rPr>
              <a:t>Revisión y edición antes de guardar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79576" y="5640019"/>
            <a:ext cx="68580" cy="68580"/>
          </a:xfrm>
          <a:prstGeom prst="roundRect">
            <a:avLst>
              <a:gd name="adj" fmla="val 26666"/>
            </a:avLst>
          </a:prstGeom>
          <a:solidFill>
            <a:srgbClr val="0E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344168" y="5571439"/>
            <a:ext cx="2560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8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31A2A"/>
                </a:solidFill>
                <a:latin typeface="Inter"/>
              </a:rPr>
              <a:t>Persistencia del gasto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99432" y="3054096"/>
            <a:ext cx="3346704" cy="2816352"/>
          </a:xfrm>
          <a:prstGeom prst="roundRect">
            <a:avLst>
              <a:gd name="adj" fmla="val 5194"/>
            </a:avLst>
          </a:prstGeom>
          <a:solidFill>
            <a:srgbClr val="FFFFFF"/>
          </a:solidFill>
          <a:ln w="12700">
            <a:solidFill>
              <a:srgbClr val="E4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910328" y="3328415"/>
            <a:ext cx="27249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31A2A"/>
                </a:solidFill>
                <a:latin typeface="Inter"/>
              </a:rPr>
              <a:t>Producto principal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910328" y="3730752"/>
            <a:ext cx="2724912" cy="0"/>
          </a:xfrm>
          <a:prstGeom prst="line">
            <a:avLst/>
          </a:prstGeom>
          <a:ln w="12700">
            <a:solidFill>
              <a:srgbClr val="EFF0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4910328" y="3909059"/>
            <a:ext cx="68580" cy="68580"/>
          </a:xfrm>
          <a:prstGeom prst="roundRect">
            <a:avLst>
              <a:gd name="adj" fmla="val 26666"/>
            </a:avLst>
          </a:prstGeom>
          <a:solidFill>
            <a:srgbClr val="0E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074920" y="3840480"/>
            <a:ext cx="2560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8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31A2A"/>
                </a:solidFill>
                <a:latin typeface="Inter"/>
              </a:rPr>
              <a:t>Historial de gastos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910328" y="4129430"/>
            <a:ext cx="68580" cy="68580"/>
          </a:xfrm>
          <a:prstGeom prst="roundRect">
            <a:avLst>
              <a:gd name="adj" fmla="val 26666"/>
            </a:avLst>
          </a:prstGeom>
          <a:solidFill>
            <a:srgbClr val="0E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074920" y="4060850"/>
            <a:ext cx="2560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8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31A2A"/>
                </a:solidFill>
                <a:latin typeface="Inter"/>
              </a:rPr>
              <a:t>Dashboard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910328" y="4349800"/>
            <a:ext cx="68580" cy="68580"/>
          </a:xfrm>
          <a:prstGeom prst="roundRect">
            <a:avLst>
              <a:gd name="adj" fmla="val 26666"/>
            </a:avLst>
          </a:prstGeom>
          <a:solidFill>
            <a:srgbClr val="0E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5074920" y="4281220"/>
            <a:ext cx="2560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8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31A2A"/>
                </a:solidFill>
                <a:latin typeface="Inter"/>
              </a:rPr>
              <a:t>Métricas básicas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910328" y="4570171"/>
            <a:ext cx="68580" cy="68580"/>
          </a:xfrm>
          <a:prstGeom prst="roundRect">
            <a:avLst>
              <a:gd name="adj" fmla="val 26666"/>
            </a:avLst>
          </a:prstGeom>
          <a:solidFill>
            <a:srgbClr val="0E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5074920" y="4501591"/>
            <a:ext cx="2560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8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31A2A"/>
                </a:solidFill>
                <a:latin typeface="Inter"/>
              </a:rPr>
              <a:t>Chat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910328" y="4790541"/>
            <a:ext cx="68580" cy="68580"/>
          </a:xfrm>
          <a:prstGeom prst="roundRect">
            <a:avLst>
              <a:gd name="adj" fmla="val 26666"/>
            </a:avLst>
          </a:prstGeom>
          <a:solidFill>
            <a:srgbClr val="0E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5074920" y="4721961"/>
            <a:ext cx="2560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8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31A2A"/>
                </a:solidFill>
                <a:latin typeface="Inter"/>
              </a:rPr>
              <a:t>Insights personalizados básicos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910328" y="5010911"/>
            <a:ext cx="68580" cy="68580"/>
          </a:xfrm>
          <a:prstGeom prst="roundRect">
            <a:avLst>
              <a:gd name="adj" fmla="val 26666"/>
            </a:avLst>
          </a:prstGeom>
          <a:solidFill>
            <a:srgbClr val="0E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5074920" y="4942331"/>
            <a:ext cx="2560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8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31A2A"/>
                </a:solidFill>
                <a:latin typeface="Inter"/>
              </a:rPr>
              <a:t>Layout web responsivo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910328" y="5231282"/>
            <a:ext cx="68580" cy="68580"/>
          </a:xfrm>
          <a:prstGeom prst="roundRect">
            <a:avLst>
              <a:gd name="adj" fmla="val 26666"/>
            </a:avLst>
          </a:prstGeom>
          <a:solidFill>
            <a:srgbClr val="0E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5074920" y="5162702"/>
            <a:ext cx="2560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8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31A2A"/>
                </a:solidFill>
                <a:latin typeface="Inter"/>
              </a:rPr>
              <a:t>Alternativas textuales accesibles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910328" y="5451652"/>
            <a:ext cx="68580" cy="68580"/>
          </a:xfrm>
          <a:prstGeom prst="roundRect">
            <a:avLst>
              <a:gd name="adj" fmla="val 26666"/>
            </a:avLst>
          </a:prstGeom>
          <a:solidFill>
            <a:srgbClr val="0E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5074920" y="5383072"/>
            <a:ext cx="2560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8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31A2A"/>
                </a:solidFill>
                <a:latin typeface="Inter"/>
              </a:rPr>
              <a:t>Onboarding simple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330183" y="3054096"/>
            <a:ext cx="3346704" cy="2816352"/>
          </a:xfrm>
          <a:prstGeom prst="roundRect">
            <a:avLst>
              <a:gd name="adj" fmla="val 5194"/>
            </a:avLst>
          </a:prstGeom>
          <a:solidFill>
            <a:srgbClr val="FFFFFF"/>
          </a:solidFill>
          <a:ln w="12700">
            <a:solidFill>
              <a:srgbClr val="E4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8641080" y="3328415"/>
            <a:ext cx="27249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31A2A"/>
                </a:solidFill>
                <a:latin typeface="Inter"/>
              </a:rPr>
              <a:t>Contexto financiero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8641080" y="3730752"/>
            <a:ext cx="2724912" cy="0"/>
          </a:xfrm>
          <a:prstGeom prst="line">
            <a:avLst/>
          </a:prstGeom>
          <a:ln w="12700">
            <a:solidFill>
              <a:srgbClr val="EFF0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8641080" y="3909059"/>
            <a:ext cx="68580" cy="68580"/>
          </a:xfrm>
          <a:prstGeom prst="roundRect">
            <a:avLst>
              <a:gd name="adj" fmla="val 26666"/>
            </a:avLst>
          </a:prstGeom>
          <a:solidFill>
            <a:srgbClr val="0E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8805672" y="3840480"/>
            <a:ext cx="2560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8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31A2A"/>
                </a:solidFill>
                <a:latin typeface="Inter"/>
              </a:rPr>
              <a:t>Ingreso mensual básico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641080" y="4129430"/>
            <a:ext cx="68580" cy="68580"/>
          </a:xfrm>
          <a:prstGeom prst="roundRect">
            <a:avLst>
              <a:gd name="adj" fmla="val 26666"/>
            </a:avLst>
          </a:prstGeom>
          <a:solidFill>
            <a:srgbClr val="0E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8805672" y="4060850"/>
            <a:ext cx="2560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8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31A2A"/>
                </a:solidFill>
                <a:latin typeface="Inter"/>
              </a:rPr>
              <a:t>Gastos recurrentes básicos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641080" y="4349800"/>
            <a:ext cx="68580" cy="68580"/>
          </a:xfrm>
          <a:prstGeom prst="roundRect">
            <a:avLst>
              <a:gd name="adj" fmla="val 26666"/>
            </a:avLst>
          </a:prstGeom>
          <a:solidFill>
            <a:srgbClr val="0E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8805672" y="4281220"/>
            <a:ext cx="2560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8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31A2A"/>
                </a:solidFill>
                <a:latin typeface="Inter"/>
              </a:rPr>
              <a:t>Meta de ahorro opcional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641080" y="4570171"/>
            <a:ext cx="68580" cy="68580"/>
          </a:xfrm>
          <a:prstGeom prst="roundRect">
            <a:avLst>
              <a:gd name="adj" fmla="val 26666"/>
            </a:avLst>
          </a:prstGeom>
          <a:solidFill>
            <a:srgbClr val="0E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8805672" y="4501591"/>
            <a:ext cx="2560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8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31A2A"/>
                </a:solidFill>
                <a:latin typeface="Inter"/>
              </a:rPr>
              <a:t>Cálculos personalizados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8680" y="5998464"/>
            <a:ext cx="1045433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31A2A"/>
                </a:solidFill>
                <a:latin typeface="Inter"/>
              </a:rPr>
              <a:t>Degradación honesta: </a:t>
            </a:r>
            <a:r>
              <a:rPr sz="1100" b="0">
                <a:solidFill>
                  <a:srgbClr val="5A6472"/>
                </a:solidFill>
                <a:latin typeface="Inter"/>
              </a:rPr>
              <a:t>sin API key, Suma usa un extractor determinista local y nunca inventa un dato que no se pudo extraer.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68680" y="530352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19">
                <a:solidFill>
                  <a:srgbClr val="131A2A"/>
                </a:solidFill>
                <a:latin typeface="Inter"/>
              </a:rPr>
              <a:t>11 </a:t>
            </a:r>
            <a:r>
              <a:rPr sz="950" b="1" spc="19">
                <a:solidFill>
                  <a:srgbClr val="5A6472"/>
                </a:solidFill>
                <a:latin typeface="Inter"/>
              </a:rPr>
              <a:t>HACIA DÓNDE</a:t>
            </a:r>
          </a:p>
        </p:txBody>
      </p:sp>
      <p:pic>
        <p:nvPicPr>
          <p:cNvPr id="4" name="Picture 3" descr="mark-grad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6327648"/>
            <a:ext cx="137160" cy="137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408615" y="6318504"/>
            <a:ext cx="914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105"/>
              </a:lnSpc>
              <a:spcBef>
                <a:spcPts val="0"/>
              </a:spcBef>
              <a:spcAft>
                <a:spcPts val="0"/>
              </a:spcAft>
            </a:pPr>
            <a:r>
              <a:rPr sz="850" b="1" spc="17">
                <a:solidFill>
                  <a:srgbClr val="767F8C"/>
                </a:solidFill>
                <a:latin typeface="Inter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133856"/>
            <a:ext cx="7680960" cy="10383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944"/>
              </a:lnSpc>
              <a:spcBef>
                <a:spcPts val="0"/>
              </a:spcBef>
              <a:spcAft>
                <a:spcPts val="0"/>
              </a:spcAft>
            </a:pPr>
            <a:r>
              <a:rPr sz="3400" b="1" spc="-68">
                <a:solidFill>
                  <a:srgbClr val="131A2A"/>
                </a:solidFill>
                <a:latin typeface="Inter"/>
              </a:rPr>
              <a:t>Lo que sigue, cuando</a:t>
            </a:r>
          </a:p>
          <a:p>
            <a:pPr algn="l">
              <a:lnSpc>
                <a:spcPts val="3944"/>
              </a:lnSpc>
              <a:spcBef>
                <a:spcPts val="0"/>
              </a:spcBef>
              <a:spcAft>
                <a:spcPts val="0"/>
              </a:spcAft>
            </a:pPr>
            <a:r>
              <a:rPr sz="3400" b="1" spc="-68">
                <a:solidFill>
                  <a:srgbClr val="131A2A"/>
                </a:solidFill>
                <a:latin typeface="Inter"/>
              </a:rPr>
              <a:t>la base esté firme.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87168"/>
            <a:ext cx="8046720" cy="590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3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472"/>
                </a:solidFill>
                <a:latin typeface="Inter"/>
              </a:rPr>
              <a:t>Nada de esto está en el MVP. El orden importa: primero voz, texto y recibo → gasto</a:t>
            </a:r>
          </a:p>
          <a:p>
            <a:pPr algn="l">
              <a:lnSpc>
                <a:spcPts val="23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472"/>
                </a:solidFill>
                <a:latin typeface="Inter"/>
              </a:rPr>
              <a:t>estructurado → métricas.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3054096"/>
            <a:ext cx="5035143" cy="2816352"/>
          </a:xfrm>
          <a:prstGeom prst="roundRect">
            <a:avLst>
              <a:gd name="adj" fmla="val 5194"/>
            </a:avLst>
          </a:prstGeom>
          <a:solidFill>
            <a:srgbClr val="FFFFFF"/>
          </a:solidFill>
          <a:ln w="12700">
            <a:solidFill>
              <a:srgbClr val="E4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1179576" y="3328415"/>
            <a:ext cx="786384" cy="274320"/>
          </a:xfrm>
          <a:prstGeom prst="roundRect">
            <a:avLst>
              <a:gd name="adj" fmla="val 50000"/>
            </a:avLst>
          </a:prstGeom>
          <a:solidFill>
            <a:srgbClr val="EDE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179576" y="3383279"/>
            <a:ext cx="78638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ts val="1105"/>
              </a:lnSpc>
              <a:spcBef>
                <a:spcPts val="0"/>
              </a:spcBef>
              <a:spcAft>
                <a:spcPts val="0"/>
              </a:spcAft>
            </a:pPr>
            <a:r>
              <a:rPr sz="850" b="1" spc="17">
                <a:solidFill>
                  <a:srgbClr val="4A2BB5"/>
                </a:solidFill>
                <a:latin typeface="Inter"/>
              </a:rPr>
              <a:t>P1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93976" y="3328415"/>
            <a:ext cx="349895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31A2A"/>
                </a:solidFill>
                <a:latin typeface="Inter"/>
              </a:rPr>
              <a:t>Valioso — después del MVP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79576" y="3730752"/>
            <a:ext cx="4413351" cy="0"/>
          </a:xfrm>
          <a:prstGeom prst="line">
            <a:avLst/>
          </a:prstGeom>
          <a:ln w="12700">
            <a:solidFill>
              <a:srgbClr val="EFF0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179576" y="3899915"/>
            <a:ext cx="68580" cy="68580"/>
          </a:xfrm>
          <a:prstGeom prst="roundRect">
            <a:avLst>
              <a:gd name="adj" fmla="val 26666"/>
            </a:avLst>
          </a:prstGeom>
          <a:solidFill>
            <a:srgbClr val="4A2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344168" y="3840480"/>
            <a:ext cx="424875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31A2A"/>
                </a:solidFill>
                <a:latin typeface="Inter"/>
              </a:rPr>
              <a:t>Extracción avanzada de recibos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79576" y="4120286"/>
            <a:ext cx="68580" cy="68580"/>
          </a:xfrm>
          <a:prstGeom prst="roundRect">
            <a:avLst>
              <a:gd name="adj" fmla="val 26666"/>
            </a:avLst>
          </a:prstGeom>
          <a:solidFill>
            <a:srgbClr val="4A2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344168" y="4060850"/>
            <a:ext cx="424875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31A2A"/>
                </a:solidFill>
                <a:latin typeface="Inter"/>
              </a:rPr>
              <a:t>Artículos individuales del recibo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79576" y="4340656"/>
            <a:ext cx="68580" cy="68580"/>
          </a:xfrm>
          <a:prstGeom prst="roundRect">
            <a:avLst>
              <a:gd name="adj" fmla="val 26666"/>
            </a:avLst>
          </a:prstGeom>
          <a:solidFill>
            <a:srgbClr val="4A2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344168" y="4281220"/>
            <a:ext cx="424875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31A2A"/>
                </a:solidFill>
                <a:latin typeface="Inter"/>
              </a:rPr>
              <a:t>Etiquetado de ubicación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79576" y="4561027"/>
            <a:ext cx="68580" cy="68580"/>
          </a:xfrm>
          <a:prstGeom prst="roundRect">
            <a:avLst>
              <a:gd name="adj" fmla="val 26666"/>
            </a:avLst>
          </a:prstGeom>
          <a:solidFill>
            <a:srgbClr val="4A2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344168" y="4501591"/>
            <a:ext cx="424875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31A2A"/>
                </a:solidFill>
                <a:latin typeface="Inter"/>
              </a:rPr>
              <a:t>Categorías personalizables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79576" y="4781397"/>
            <a:ext cx="68580" cy="68580"/>
          </a:xfrm>
          <a:prstGeom prst="roundRect">
            <a:avLst>
              <a:gd name="adj" fmla="val 26666"/>
            </a:avLst>
          </a:prstGeom>
          <a:solidFill>
            <a:srgbClr val="4A2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344168" y="4721961"/>
            <a:ext cx="424875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31A2A"/>
                </a:solidFill>
                <a:latin typeface="Inter"/>
              </a:rPr>
              <a:t>Comparación entre periodos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79576" y="5001768"/>
            <a:ext cx="68580" cy="68580"/>
          </a:xfrm>
          <a:prstGeom prst="roundRect">
            <a:avLst>
              <a:gd name="adj" fmla="val 26666"/>
            </a:avLst>
          </a:prstGeom>
          <a:solidFill>
            <a:srgbClr val="4A2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344168" y="4942332"/>
            <a:ext cx="424875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31A2A"/>
                </a:solidFill>
                <a:latin typeface="Inter"/>
              </a:rPr>
              <a:t>Gráficas avanzadas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79576" y="5222138"/>
            <a:ext cx="68580" cy="68580"/>
          </a:xfrm>
          <a:prstGeom prst="roundRect">
            <a:avLst>
              <a:gd name="adj" fmla="val 26666"/>
            </a:avLst>
          </a:prstGeom>
          <a:solidFill>
            <a:srgbClr val="4A2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344168" y="5162702"/>
            <a:ext cx="424875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31A2A"/>
                </a:solidFill>
                <a:latin typeface="Inter"/>
              </a:rPr>
              <a:t>Correcciones por voz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79576" y="5442508"/>
            <a:ext cx="68580" cy="68580"/>
          </a:xfrm>
          <a:prstGeom prst="roundRect">
            <a:avLst>
              <a:gd name="adj" fmla="val 26666"/>
            </a:avLst>
          </a:prstGeom>
          <a:solidFill>
            <a:srgbClr val="4A2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344168" y="5383072"/>
            <a:ext cx="424875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31A2A"/>
                </a:solidFill>
                <a:latin typeface="Inter"/>
              </a:rPr>
              <a:t>Escenarios de metas financieras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79576" y="5662879"/>
            <a:ext cx="68580" cy="68580"/>
          </a:xfrm>
          <a:prstGeom prst="roundRect">
            <a:avLst>
              <a:gd name="adj" fmla="val 26666"/>
            </a:avLst>
          </a:prstGeom>
          <a:solidFill>
            <a:srgbClr val="4A2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344168" y="5603443"/>
            <a:ext cx="424875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31A2A"/>
                </a:solidFill>
                <a:latin typeface="Inter"/>
              </a:rPr>
              <a:t>Insights más personalizados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87871" y="3054096"/>
            <a:ext cx="5035143" cy="2816352"/>
          </a:xfrm>
          <a:prstGeom prst="roundRect">
            <a:avLst>
              <a:gd name="adj" fmla="val 5194"/>
            </a:avLst>
          </a:prstGeom>
          <a:solidFill>
            <a:srgbClr val="F4F5F3"/>
          </a:solidFill>
          <a:ln w="12700">
            <a:solidFill>
              <a:srgbClr val="B7BDC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ounded Rectangle 31"/>
          <p:cNvSpPr/>
          <p:nvPr/>
        </p:nvSpPr>
        <p:spPr>
          <a:xfrm>
            <a:off x="6598767" y="3328415"/>
            <a:ext cx="78638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598767" y="3383279"/>
            <a:ext cx="78638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ts val="1105"/>
              </a:lnSpc>
              <a:spcBef>
                <a:spcPts val="0"/>
              </a:spcBef>
              <a:spcAft>
                <a:spcPts val="0"/>
              </a:spcAft>
            </a:pPr>
            <a:r>
              <a:rPr sz="850" b="1" spc="17">
                <a:solidFill>
                  <a:srgbClr val="5A6472"/>
                </a:solidFill>
                <a:latin typeface="Inter"/>
              </a:rPr>
              <a:t>P2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13167" y="3328415"/>
            <a:ext cx="349895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5A6472"/>
                </a:solidFill>
                <a:latin typeface="Inter"/>
              </a:rPr>
              <a:t>Visión — todavía no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598767" y="3730752"/>
            <a:ext cx="4413352" cy="0"/>
          </a:xfrm>
          <a:prstGeom prst="line">
            <a:avLst/>
          </a:prstGeom>
          <a:ln w="12700">
            <a:solidFill>
              <a:srgbClr val="E4E6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6598767" y="3899915"/>
            <a:ext cx="68580" cy="68580"/>
          </a:xfrm>
          <a:prstGeom prst="roundRect">
            <a:avLst>
              <a:gd name="adj" fmla="val 26666"/>
            </a:avLst>
          </a:prstGeom>
          <a:solidFill>
            <a:srgbClr val="76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763359" y="3840480"/>
            <a:ext cx="424875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472"/>
                </a:solidFill>
                <a:latin typeface="Inter"/>
              </a:rPr>
              <a:t>Integraciones bancarias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98767" y="4120286"/>
            <a:ext cx="68580" cy="68580"/>
          </a:xfrm>
          <a:prstGeom prst="roundRect">
            <a:avLst>
              <a:gd name="adj" fmla="val 26666"/>
            </a:avLst>
          </a:prstGeom>
          <a:solidFill>
            <a:srgbClr val="76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763359" y="4060850"/>
            <a:ext cx="424875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472"/>
                </a:solidFill>
                <a:latin typeface="Inter"/>
              </a:rPr>
              <a:t>Importación automática de transacciones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98767" y="4340656"/>
            <a:ext cx="68580" cy="68580"/>
          </a:xfrm>
          <a:prstGeom prst="roundRect">
            <a:avLst>
              <a:gd name="adj" fmla="val 26666"/>
            </a:avLst>
          </a:prstGeom>
          <a:solidFill>
            <a:srgbClr val="76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763359" y="4281220"/>
            <a:ext cx="424875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472"/>
                </a:solidFill>
                <a:latin typeface="Inter"/>
              </a:rPr>
              <a:t>Finanzas del hogar compartidas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98767" y="4561027"/>
            <a:ext cx="68580" cy="68580"/>
          </a:xfrm>
          <a:prstGeom prst="roundRect">
            <a:avLst>
              <a:gd name="adj" fmla="val 26666"/>
            </a:avLst>
          </a:prstGeom>
          <a:solidFill>
            <a:srgbClr val="76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6763359" y="4501591"/>
            <a:ext cx="424875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472"/>
                </a:solidFill>
                <a:latin typeface="Inter"/>
              </a:rPr>
              <a:t>Detección de gastos recurrentes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98767" y="4781397"/>
            <a:ext cx="68580" cy="68580"/>
          </a:xfrm>
          <a:prstGeom prst="roundRect">
            <a:avLst>
              <a:gd name="adj" fmla="val 26666"/>
            </a:avLst>
          </a:prstGeom>
          <a:solidFill>
            <a:srgbClr val="76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6763359" y="4721961"/>
            <a:ext cx="424875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472"/>
                </a:solidFill>
                <a:latin typeface="Inter"/>
              </a:rPr>
              <a:t>Presupuestos avanzados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598767" y="5001768"/>
            <a:ext cx="68580" cy="68580"/>
          </a:xfrm>
          <a:prstGeom prst="roundRect">
            <a:avLst>
              <a:gd name="adj" fmla="val 26666"/>
            </a:avLst>
          </a:prstGeom>
          <a:solidFill>
            <a:srgbClr val="76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6763359" y="4942332"/>
            <a:ext cx="424875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472"/>
                </a:solidFill>
                <a:latin typeface="Inter"/>
              </a:rPr>
              <a:t>Seguimiento de inversiones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598767" y="5222138"/>
            <a:ext cx="68580" cy="68580"/>
          </a:xfrm>
          <a:prstGeom prst="roundRect">
            <a:avLst>
              <a:gd name="adj" fmla="val 26666"/>
            </a:avLst>
          </a:prstGeom>
          <a:solidFill>
            <a:srgbClr val="76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6763359" y="5162702"/>
            <a:ext cx="424875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472"/>
                </a:solidFill>
                <a:latin typeface="Inter"/>
              </a:rPr>
              <a:t>Soporte multi-cuenta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598767" y="5442508"/>
            <a:ext cx="68580" cy="68580"/>
          </a:xfrm>
          <a:prstGeom prst="roundRect">
            <a:avLst>
              <a:gd name="adj" fmla="val 26666"/>
            </a:avLst>
          </a:prstGeom>
          <a:solidFill>
            <a:srgbClr val="76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6763359" y="5383072"/>
            <a:ext cx="424875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472"/>
                </a:solidFill>
                <a:latin typeface="Inter"/>
              </a:rPr>
              <a:t>Categorización fiscal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8680" y="5998464"/>
            <a:ext cx="10454335" cy="209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6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472"/>
                </a:solidFill>
                <a:latin typeface="Inter"/>
              </a:rPr>
              <a:t>Los elementos P2 aparecen aquí como dirección, no como compromiso: ninguno está construido ni prometido en el MVP.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1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E9E6B"/>
              </a:gs>
              <a:gs pos="52000">
                <a:srgbClr val="12314F"/>
              </a:gs>
              <a:gs pos="100000">
                <a:srgbClr val="5B34D6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wordmark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8527" y="1572768"/>
            <a:ext cx="2834640" cy="8609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8680" y="3035808"/>
            <a:ext cx="10424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ts val="4176"/>
              </a:lnSpc>
              <a:spcBef>
                <a:spcPts val="0"/>
              </a:spcBef>
              <a:spcAft>
                <a:spcPts val="0"/>
              </a:spcAft>
            </a:pPr>
            <a:r>
              <a:rPr sz="3600" b="1" spc="-72">
                <a:solidFill>
                  <a:srgbClr val="FFFFFF"/>
                </a:solidFill>
                <a:latin typeface="Inter"/>
              </a:rPr>
              <a:t>Make financial awareness as easy</a:t>
            </a:r>
          </a:p>
          <a:p>
            <a:pPr algn="ctr">
              <a:lnSpc>
                <a:spcPts val="4176"/>
              </a:lnSpc>
              <a:spcBef>
                <a:spcPts val="0"/>
              </a:spcBef>
              <a:spcAft>
                <a:spcPts val="0"/>
              </a:spcAft>
            </a:pPr>
            <a:r>
              <a:rPr sz="3600" b="1" spc="-72">
                <a:solidFill>
                  <a:srgbClr val="FFFFFF"/>
                </a:solidFill>
                <a:latin typeface="Inter"/>
              </a:rPr>
              <a:t>as telling someone what you bought.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645152"/>
            <a:ext cx="104241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ts val="2379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B7BDC6"/>
                </a:solidFill>
                <a:latin typeface="Inter"/>
              </a:rPr>
              <a:t>Habla. Escribe. Fotografía.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870448"/>
            <a:ext cx="10424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ts val="1189"/>
              </a:lnSpc>
              <a:spcBef>
                <a:spcPts val="0"/>
              </a:spcBef>
              <a:spcAft>
                <a:spcPts val="0"/>
              </a:spcAft>
            </a:pPr>
            <a:r>
              <a:rPr sz="850" b="1" spc="17">
                <a:solidFill>
                  <a:srgbClr val="B7BDC6"/>
                </a:solidFill>
                <a:latin typeface="Inter"/>
              </a:rPr>
              <a:t>Suma · Design System v1.0 · WCAG 2.2 AA · es-MX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